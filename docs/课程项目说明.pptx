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257" r:id="rId2"/>
    <p:sldId id="2069" r:id="rId3"/>
    <p:sldId id="1312" r:id="rId4"/>
    <p:sldId id="2037" r:id="rId5"/>
    <p:sldId id="2038" r:id="rId6"/>
    <p:sldId id="2026" r:id="rId7"/>
    <p:sldId id="345" r:id="rId8"/>
    <p:sldId id="2070" r:id="rId9"/>
    <p:sldId id="2063" r:id="rId10"/>
    <p:sldId id="2073" r:id="rId11"/>
    <p:sldId id="2060" r:id="rId12"/>
    <p:sldId id="2065" r:id="rId13"/>
    <p:sldId id="2074" r:id="rId14"/>
    <p:sldId id="2067" r:id="rId15"/>
    <p:sldId id="268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7F00"/>
    <a:srgbClr val="69FDF6"/>
    <a:srgbClr val="F08A10"/>
    <a:srgbClr val="EB7A41"/>
    <a:srgbClr val="EF92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41" autoAdjust="0"/>
    <p:restoredTop sz="88690" autoAdjust="0"/>
  </p:normalViewPr>
  <p:slideViewPr>
    <p:cSldViewPr snapToGrid="0">
      <p:cViewPr varScale="1">
        <p:scale>
          <a:sx n="73" d="100"/>
          <a:sy n="73" d="100"/>
        </p:scale>
        <p:origin x="93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4E54B-D346-4E21-8304-5E21A385E5E5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90D449-86F4-4423-B0CF-057524BCB9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299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0D449-86F4-4423-B0CF-057524BCB9F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88949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FC3CE-6A21-DE38-D829-5ED1E5881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E1D2BC5-4813-B7AB-A09E-4D40B6B764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8C29ED7-FF83-2BCB-473A-B49C264DC7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581217-CF31-FF47-E5A2-E42BC030CC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0D449-86F4-4423-B0CF-057524BCB9F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59231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61532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1AEF8-46F8-09D9-E842-82ED76859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6F8A4E-3D82-AC0E-7D53-743FA62899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A70D9F4-88AD-7CD9-4302-DACD67E50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A9BBA8-4A1D-2C7C-7597-0B13987A3D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9891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6568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B40908-4285-1B75-20D3-0AC0877CDA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9505BB6-74C6-FDC7-2590-9C4750A9A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F1BE73-D5B9-0A16-8BC3-80AEC609C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5CA4-F8B9-463C-A337-8431B29307B5}" type="datetime1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A838FE-7CB3-4BFC-414B-99FDF3F16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软件工程实践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FF8ABF-F9F7-19D5-44CE-95C863DBF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B36-6B10-4A46-AD7A-8806ECE73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8569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4B483B-FC2E-ABD9-BF22-1D41341F6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0933"/>
            <a:ext cx="10515600" cy="46360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CAAF27E6-0DE1-5C7C-D7F6-31AD0F53C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13CDDD80-6AF5-1769-4FC8-3F287C5C6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C0C45-8306-4019-8B11-4AC3BFD5B435}" type="datetime1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11" name="页脚占位符 10">
            <a:extLst>
              <a:ext uri="{FF2B5EF4-FFF2-40B4-BE49-F238E27FC236}">
                <a16:creationId xmlns:a16="http://schemas.microsoft.com/office/drawing/2014/main" id="{E2484B68-FBFF-8907-42D5-89F614D63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软件工程实践</a:t>
            </a: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D68F0886-BA36-1CA6-5F50-F8F80D1EB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B36-6B10-4A46-AD7A-8806ECE73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160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E545A1-EB48-1157-8D2E-30B891CD3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DB67ABD-BFBE-5B23-B1EA-D8AE76AC8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9F526C-9D86-D0BA-124E-315B0B9E4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19ACE-4D67-4365-91A0-0B2F6DEE33AA}" type="datetime1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2EF0FB-124B-2B81-E497-DCD55B362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软件工程实践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B9D2EB-929F-F66E-BEDF-8784E7C94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B36-6B10-4A46-AD7A-8806ECE73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4935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12E61E-D508-D0EA-1A21-FA2DC5CA7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F987DA-B2C6-EB6F-F0C6-EA921FE3ED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CB26CEE-022E-6A65-68B3-B146A3081A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C6F93CF-8979-5A50-CB52-A5FF2519F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4C3B4-5945-40D6-B204-548D6DE14641}" type="datetime1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039D27-BE1B-27F1-EA6F-46FAFAB4F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软件工程实践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60ED8A-F1EE-1CDD-C857-BB31C7942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B36-6B10-4A46-AD7A-8806ECE73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4654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90339E-83F4-F80D-51E7-B106FB5C4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C37695-0EFB-85E8-6B5E-0FDB69CF00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5DCEF15-2648-FA25-EED9-3564DF2B7F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A448B2C-FA09-FBB8-5C08-2763B7BCFC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1B20275-3497-A3CD-0963-7538655ED3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E3B66E9-DCEE-8B7D-2C3B-C22EC2BB8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2A373-77FA-47D7-8ABD-B27D00F169AD}" type="datetime1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7BF35F1-D089-727D-7CB5-D5378AF13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软件工程实践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B8D0445-D247-9AAE-B1CB-810D6FED1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B36-6B10-4A46-AD7A-8806ECE73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3491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34B732-94AB-2623-1FF9-BAFD4443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D4DBB1-E1DE-DE50-93EE-87ABD3075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D4D12-F9D1-47C0-9A12-B89DD9EAF26D}" type="datetime1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99A1763-A926-3BE3-33FE-74FD0D0B8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软件工程实践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82C6324-BDAB-9E21-63A5-AACD08A89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B36-6B10-4A46-AD7A-8806ECE73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98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BC6FDF5-9CC6-FC40-050D-E14EDC3EA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B639C-DBB3-4F4F-8304-7D6466F4EFE2}" type="datetime1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016F6D5-F55F-4A72-40BD-3970B289A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软件工程实践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3F0A0E-A3A9-70BD-BDF9-13CF498E4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B36-6B10-4A46-AD7A-8806ECE73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4061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30012E-ADC7-9D92-567C-558DCC9DD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5141A8-5A16-918F-81B9-47D010047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41DBCA2-A0CA-9735-5BDD-B4597AFE80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878B7C-7EFF-6206-11A6-7B5D5E403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041A1-B167-41A6-9889-73F79C3F5F15}" type="datetime1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A032A1-C9E7-2522-172F-7703C036A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软件工程实践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E07FC2-0676-EFC1-71EF-C5D71AAD7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B36-6B10-4A46-AD7A-8806ECE73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9150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EBE532-3D9A-8E0E-36EF-769FC16C7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9439108-341E-15AD-3C05-BC37EBA0A3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0B6512C-31CD-287C-786E-9CBCA1324D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AD0D75-8C2E-F7FB-0872-9297CDBBD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90D0D-5821-44D4-8C9A-063584D38F54}" type="datetime1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0C1226-4A61-C1B2-FEFD-3A2637686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软件工程实践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F211A6-F7FC-1F6F-A07A-A72977A4C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B36-6B10-4A46-AD7A-8806ECE73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717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5B244E-9D3C-2583-7649-5FE25B92F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AD41C52-9AD2-7E2C-9448-6BDCA84371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A685AE-B28C-799C-1BCC-F0DC70D67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7C4A7-9CFF-464C-8A57-5B1B1EB511D9}" type="datetime1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4676C9-6CF3-3D64-33A4-67346DA6F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软件工程实践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DBF006-E318-77DA-CB34-8126091AF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B36-6B10-4A46-AD7A-8806ECE73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0954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4B2587C-85C2-CA07-7331-72A8D87206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D71BD9F-261A-5FCA-7D20-125A83B2C4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D696B5-CB50-EA69-CB68-7BE57342F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AACFC-E357-47F2-9D79-E7497BD9B806}" type="datetime1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D12E4F-3F17-BCE5-29A7-6CBE06CA1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软件工程实践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4FF14C-B06D-2465-A9A0-7EDE37176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B36-6B10-4A46-AD7A-8806ECE73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0958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ECCA320-3E79-1D7E-11BC-C38B149F5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0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567F01-961D-92C0-2325-03B42C185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92767"/>
            <a:ext cx="10515600" cy="47841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9B729C-10DB-7DF5-1F30-DE5F5EAA3F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6B205E-D944-4F18-9033-9CEC3C356EA2}" type="datetime1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8D7D31-F95F-6AAF-CE9E-88BC053FCF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zh-CN" altLang="en-US"/>
              <a:t>软件工程实践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697D41-037E-10EA-5732-3031BEA13E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ACBB36-6B10-4A46-AD7A-8806ECE73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605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oogle/styleguide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uides.github.com/" TargetMode="External"/><Relationship Id="rId5" Type="http://schemas.openxmlformats.org/officeDocument/2006/relationships/hyperlink" Target="https://www.github.com/" TargetMode="External"/><Relationship Id="rId4" Type="http://schemas.openxmlformats.org/officeDocument/2006/relationships/hyperlink" Target="https://github.com/zh-google-styleguide/zh-google-styleguide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49996" y="1798672"/>
            <a:ext cx="9871792" cy="2162671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zh-CN" altLang="en-US" sz="49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114300" dist="38100" dir="2700000" algn="tl">
                    <a:schemeClr val="bg1">
                      <a:lumMod val="50000"/>
                      <a:alpha val="43000"/>
                    </a:scheme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软件工程实践</a:t>
            </a:r>
            <a:br>
              <a:rPr lang="en-US" altLang="zh-CN" dirty="0">
                <a:effectLst>
                  <a:outerShdw blurRad="114300" dist="38100" dir="2700000" algn="tl">
                    <a:schemeClr val="bg1">
                      <a:lumMod val="50000"/>
                      <a:alpha val="43000"/>
                    </a:schemeClr>
                  </a:outerShdw>
                </a:effectLst>
              </a:rPr>
            </a:br>
            <a:r>
              <a:rPr lang="zh-CN" altLang="en-US" dirty="0">
                <a:effectLst>
                  <a:outerShdw blurRad="114300" dist="38100" dir="2700000" algn="tl">
                    <a:schemeClr val="bg1">
                      <a:lumMod val="50000"/>
                      <a:alpha val="43000"/>
                    </a:schemeClr>
                  </a:outerShdw>
                </a:effectLst>
              </a:rPr>
              <a:t>课程项目说明</a:t>
            </a:r>
            <a:endParaRPr lang="zh-CN" altLang="en-US" sz="5300" dirty="0">
              <a:effectLst>
                <a:outerShdw blurRad="114300" dist="38100" dir="2700000" algn="tl">
                  <a:schemeClr val="bg1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6" name="副标题 2">
            <a:extLst>
              <a:ext uri="{FF2B5EF4-FFF2-40B4-BE49-F238E27FC236}">
                <a16:creationId xmlns:a16="http://schemas.microsoft.com/office/drawing/2014/main" id="{BCEA988A-FDFB-40C2-8906-F663A7CD8A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2514" y="4938887"/>
            <a:ext cx="5398368" cy="1451118"/>
          </a:xfrm>
        </p:spPr>
        <p:txBody>
          <a:bodyPr>
            <a:norm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lang="en-US" altLang="zh-CN" sz="1600" b="1" dirty="0">
                <a:solidFill>
                  <a:schemeClr val="accent6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altLang="zh-CN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Instructor:  </a:t>
            </a:r>
            <a:r>
              <a:rPr lang="en-US" altLang="zh-CN" sz="1600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Haiying</a:t>
            </a:r>
            <a:r>
              <a:rPr lang="en-US" altLang="zh-CN" sz="1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SUN       </a:t>
            </a:r>
          </a:p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lang="en-US" altLang="zh-CN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Office:  </a:t>
            </a:r>
            <a:r>
              <a:rPr lang="en-US" altLang="zh-CN" sz="1600" b="1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Science Build B1104</a:t>
            </a:r>
          </a:p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lang="en-US" altLang="zh-CN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E-mail:  </a:t>
            </a:r>
            <a:r>
              <a:rPr lang="en-US" altLang="zh-CN" sz="1600" b="1" dirty="0">
                <a:solidFill>
                  <a:srgbClr val="4250D2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hysun@sei.ecnu.edu.cn  </a:t>
            </a:r>
            <a:endParaRPr lang="en-US" altLang="zh-CN" sz="1600" b="1" dirty="0">
              <a:solidFill>
                <a:srgbClr val="00B05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lang="en-US" altLang="zh-CN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   Available Time:   </a:t>
            </a: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Thursday 10:00 a.m.  – 12:00 a.m</a:t>
            </a:r>
            <a:r>
              <a:rPr lang="en-US" altLang="zh-CN" sz="1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endParaRPr lang="zh-CN" altLang="en-US" sz="1600" b="1" dirty="0">
              <a:solidFill>
                <a:schemeClr val="accent2">
                  <a:lumMod val="60000"/>
                  <a:lumOff val="40000"/>
                </a:schemeClr>
              </a:solidFill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028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75797">
        <p:fade/>
      </p:transition>
    </mc:Choice>
    <mc:Fallback xmlns="">
      <p:transition spd="med" advTm="75797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BC88E24-4AB1-93F6-0B26-B3E501F24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/>
              <a:t>课程待开发功能需求说明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课程项目开发要求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课程项目开发计划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课程项目各阶段要求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4BACC86-1078-3422-4B3F-FB2CF8715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课程大纲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EB7FAA-6469-D1CE-E448-780CD907C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C0C45-8306-4019-8B11-4AC3BFD5B435}" type="datetime1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D36BD6-5185-9A6E-D844-DB3537A9E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软件工程实践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85B8BB-8A6E-3C87-CCC8-CE6D5D778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B36-6B10-4A46-AD7A-8806ECE73090}" type="slidenum">
              <a:rPr lang="zh-CN" altLang="en-US" smtClean="0"/>
              <a:t>2</a:t>
            </a:fld>
            <a:endParaRPr lang="zh-CN" altLang="en-US"/>
          </a:p>
        </p:txBody>
      </p:sp>
      <p:pic>
        <p:nvPicPr>
          <p:cNvPr id="7" name="图形 6">
            <a:extLst>
              <a:ext uri="{FF2B5EF4-FFF2-40B4-BE49-F238E27FC236}">
                <a16:creationId xmlns:a16="http://schemas.microsoft.com/office/drawing/2014/main" id="{806BE547-A460-AE67-E5B4-375F14C0770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66153" y="4449013"/>
            <a:ext cx="1693058" cy="159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766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210BC49-2D24-4547-DEF6-F58D856F4641}"/>
              </a:ext>
            </a:extLst>
          </p:cNvPr>
          <p:cNvSpPr/>
          <p:nvPr/>
        </p:nvSpPr>
        <p:spPr>
          <a:xfrm>
            <a:off x="1024844" y="777766"/>
            <a:ext cx="10764096" cy="592779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320850D8-87E6-2F4A-7D67-23947DA25DD0}"/>
              </a:ext>
            </a:extLst>
          </p:cNvPr>
          <p:cNvGrpSpPr/>
          <p:nvPr/>
        </p:nvGrpSpPr>
        <p:grpSpPr>
          <a:xfrm>
            <a:off x="133253" y="1000010"/>
            <a:ext cx="11445127" cy="5705546"/>
            <a:chOff x="133253" y="1000010"/>
            <a:chExt cx="11445127" cy="5705546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0BF99573-D04D-52CF-2458-87CC2545B730}"/>
                </a:ext>
              </a:extLst>
            </p:cNvPr>
            <p:cNvSpPr/>
            <p:nvPr/>
          </p:nvSpPr>
          <p:spPr>
            <a:xfrm>
              <a:off x="2831756" y="1705122"/>
              <a:ext cx="687785" cy="732518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录入课题信息</a:t>
              </a:r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6AEF8C63-5F45-7A95-E7A9-CCEE1DECAD4D}"/>
                </a:ext>
              </a:extLst>
            </p:cNvPr>
            <p:cNvSpPr/>
            <p:nvPr/>
          </p:nvSpPr>
          <p:spPr>
            <a:xfrm>
              <a:off x="3604777" y="1705122"/>
              <a:ext cx="687785" cy="732518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录入成员需求</a:t>
              </a: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FDC99D6C-9B5A-D36C-0689-63B80AB8C869}"/>
                </a:ext>
              </a:extLst>
            </p:cNvPr>
            <p:cNvSpPr/>
            <p:nvPr/>
          </p:nvSpPr>
          <p:spPr>
            <a:xfrm>
              <a:off x="4378125" y="1703240"/>
              <a:ext cx="686427" cy="7344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发布课题</a:t>
              </a:r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2BFB8260-82F9-606B-3EBD-AAB80E27A8E8}"/>
                </a:ext>
              </a:extLst>
            </p:cNvPr>
            <p:cNvSpPr/>
            <p:nvPr/>
          </p:nvSpPr>
          <p:spPr>
            <a:xfrm>
              <a:off x="1165924" y="1705122"/>
              <a:ext cx="686427" cy="73440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浏览课题</a:t>
              </a:r>
            </a:p>
          </p:txBody>
        </p:sp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57E4C175-378C-D05C-B7AC-7F7D198D5660}"/>
                </a:ext>
              </a:extLst>
            </p:cNvPr>
            <p:cNvSpPr/>
            <p:nvPr/>
          </p:nvSpPr>
          <p:spPr>
            <a:xfrm>
              <a:off x="5312283" y="1705122"/>
              <a:ext cx="686427" cy="73440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填写成员申请</a:t>
              </a:r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87A1F81B-1D12-E539-579B-3404866BF62D}"/>
                </a:ext>
              </a:extLst>
            </p:cNvPr>
            <p:cNvSpPr/>
            <p:nvPr/>
          </p:nvSpPr>
          <p:spPr>
            <a:xfrm>
              <a:off x="6863425" y="1705122"/>
              <a:ext cx="646234" cy="73440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审核</a:t>
              </a:r>
              <a:endPara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成员</a:t>
              </a:r>
              <a:endPara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申请</a:t>
              </a:r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6591D286-4B0F-62B0-4B45-04A13FE84323}"/>
                </a:ext>
              </a:extLst>
            </p:cNvPr>
            <p:cNvSpPr/>
            <p:nvPr/>
          </p:nvSpPr>
          <p:spPr>
            <a:xfrm>
              <a:off x="7817901" y="1705122"/>
              <a:ext cx="686427" cy="7344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预约面试</a:t>
              </a:r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22458062-E234-56D8-C8BE-A7A4337F0CE0}"/>
                </a:ext>
              </a:extLst>
            </p:cNvPr>
            <p:cNvSpPr/>
            <p:nvPr/>
          </p:nvSpPr>
          <p:spPr>
            <a:xfrm>
              <a:off x="8602248" y="1705122"/>
              <a:ext cx="686427" cy="7344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通知招募结果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370C2AA0-2B6D-8C39-7CED-CD090AF60531}"/>
                </a:ext>
              </a:extLst>
            </p:cNvPr>
            <p:cNvSpPr txBox="1"/>
            <p:nvPr/>
          </p:nvSpPr>
          <p:spPr>
            <a:xfrm>
              <a:off x="2770578" y="2537804"/>
              <a:ext cx="81014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录入课题信息 </a:t>
              </a:r>
              <a:r>
                <a:rPr lang="en-US" altLang="zh-CN" sz="1100" b="1" baseline="30000" dirty="0"/>
                <a:t>1</a:t>
              </a:r>
              <a:endParaRPr lang="zh-CN" altLang="en-US" sz="1100" b="1" baseline="30000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CC11A351-A2C0-2037-E851-1A96461F3136}"/>
                </a:ext>
              </a:extLst>
            </p:cNvPr>
            <p:cNvSpPr txBox="1"/>
            <p:nvPr/>
          </p:nvSpPr>
          <p:spPr>
            <a:xfrm>
              <a:off x="2714956" y="5675272"/>
              <a:ext cx="80089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 dirty="0"/>
                <a:t>AI</a:t>
              </a:r>
              <a:r>
                <a:rPr lang="zh-CN" altLang="en-US" sz="1100" b="1" dirty="0"/>
                <a:t>生成课题信息</a:t>
              </a: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47FD823E-51CB-EFD2-0488-6311CEA5A4C9}"/>
                </a:ext>
              </a:extLst>
            </p:cNvPr>
            <p:cNvSpPr txBox="1"/>
            <p:nvPr/>
          </p:nvSpPr>
          <p:spPr>
            <a:xfrm>
              <a:off x="3616035" y="2536145"/>
              <a:ext cx="74807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录入成员需求</a:t>
              </a: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1EDA73D-5264-4E1A-DE75-FF081D33BF7E}"/>
                </a:ext>
              </a:extLst>
            </p:cNvPr>
            <p:cNvSpPr txBox="1"/>
            <p:nvPr/>
          </p:nvSpPr>
          <p:spPr>
            <a:xfrm>
              <a:off x="3481003" y="5701867"/>
              <a:ext cx="87075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AI</a:t>
              </a:r>
              <a:r>
                <a:rPr lang="zh-CN" altLang="en-US" sz="1100" b="1" dirty="0"/>
                <a:t>自动匹配</a:t>
              </a: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EB0CF399-D759-F87F-A6DF-A08D6DC4A41C}"/>
                </a:ext>
              </a:extLst>
            </p:cNvPr>
            <p:cNvSpPr txBox="1"/>
            <p:nvPr/>
          </p:nvSpPr>
          <p:spPr>
            <a:xfrm>
              <a:off x="1114981" y="2553685"/>
              <a:ext cx="81014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课题分类展示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E22828C1-7C23-D270-0BD9-70BBABB307D8}"/>
                </a:ext>
              </a:extLst>
            </p:cNvPr>
            <p:cNvSpPr txBox="1"/>
            <p:nvPr/>
          </p:nvSpPr>
          <p:spPr>
            <a:xfrm>
              <a:off x="1101568" y="3007971"/>
              <a:ext cx="74892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筛选课题</a:t>
              </a: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3910DD3D-CD95-8568-C213-AF34FCE800BD}"/>
                </a:ext>
              </a:extLst>
            </p:cNvPr>
            <p:cNvSpPr txBox="1"/>
            <p:nvPr/>
          </p:nvSpPr>
          <p:spPr>
            <a:xfrm>
              <a:off x="1086611" y="3276543"/>
              <a:ext cx="74892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查询课题</a:t>
              </a: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49C991E6-AA9B-9274-D177-6C49FD80AB58}"/>
                </a:ext>
              </a:extLst>
            </p:cNvPr>
            <p:cNvSpPr txBox="1"/>
            <p:nvPr/>
          </p:nvSpPr>
          <p:spPr>
            <a:xfrm>
              <a:off x="6019709" y="2551221"/>
              <a:ext cx="80547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填写申请信息</a:t>
              </a: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CFED2526-57B0-76CA-936A-319681713DEB}"/>
                </a:ext>
              </a:extLst>
            </p:cNvPr>
            <p:cNvSpPr txBox="1"/>
            <p:nvPr/>
          </p:nvSpPr>
          <p:spPr>
            <a:xfrm>
              <a:off x="5178396" y="3709559"/>
              <a:ext cx="881604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教务系统自动填写基本信息</a:t>
              </a:r>
            </a:p>
          </p:txBody>
        </p:sp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5A7A7721-A570-5C2F-9DEA-98304AC6A0F1}"/>
                </a:ext>
              </a:extLst>
            </p:cNvPr>
            <p:cNvSpPr/>
            <p:nvPr/>
          </p:nvSpPr>
          <p:spPr>
            <a:xfrm>
              <a:off x="6092245" y="1705122"/>
              <a:ext cx="686427" cy="73440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提交成员申请</a:t>
              </a: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4297B8BE-D090-2CDD-E92B-46A1ABF3A8D8}"/>
                </a:ext>
              </a:extLst>
            </p:cNvPr>
            <p:cNvSpPr txBox="1"/>
            <p:nvPr/>
          </p:nvSpPr>
          <p:spPr>
            <a:xfrm>
              <a:off x="8519567" y="2552461"/>
              <a:ext cx="80062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通知招募结果</a:t>
              </a: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AC0A5F59-C165-B4F0-CB61-4F9521B241F2}"/>
                </a:ext>
              </a:extLst>
            </p:cNvPr>
            <p:cNvSpPr txBox="1"/>
            <p:nvPr/>
          </p:nvSpPr>
          <p:spPr>
            <a:xfrm>
              <a:off x="1131049" y="1000010"/>
              <a:ext cx="108205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课题全景信息</a:t>
              </a: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44F81FAB-3A51-737B-4CF0-1140EA7EBD83}"/>
                </a:ext>
              </a:extLst>
            </p:cNvPr>
            <p:cNvSpPr txBox="1"/>
            <p:nvPr/>
          </p:nvSpPr>
          <p:spPr>
            <a:xfrm>
              <a:off x="2912105" y="1000010"/>
              <a:ext cx="108205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课题发布</a:t>
              </a: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B4A389EC-88C4-DB6D-3D9E-15208F906D36}"/>
                </a:ext>
              </a:extLst>
            </p:cNvPr>
            <p:cNvSpPr txBox="1"/>
            <p:nvPr/>
          </p:nvSpPr>
          <p:spPr>
            <a:xfrm>
              <a:off x="5314899" y="1000010"/>
              <a:ext cx="108205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在线申请</a:t>
              </a: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C5162750-35E9-1D1F-543E-884836E87994}"/>
                </a:ext>
              </a:extLst>
            </p:cNvPr>
            <p:cNvSpPr txBox="1"/>
            <p:nvPr/>
          </p:nvSpPr>
          <p:spPr>
            <a:xfrm>
              <a:off x="7771153" y="1000010"/>
              <a:ext cx="110799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申请流程管理</a:t>
              </a:r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D780A451-DA3F-87B5-6002-D045365F92AE}"/>
                </a:ext>
              </a:extLst>
            </p:cNvPr>
            <p:cNvSpPr txBox="1"/>
            <p:nvPr/>
          </p:nvSpPr>
          <p:spPr>
            <a:xfrm>
              <a:off x="1078158" y="5653521"/>
              <a:ext cx="80089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个性化课题展示</a:t>
              </a:r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37243D09-2302-817C-572D-78A1C831FCE7}"/>
                </a:ext>
              </a:extLst>
            </p:cNvPr>
            <p:cNvSpPr txBox="1"/>
            <p:nvPr/>
          </p:nvSpPr>
          <p:spPr>
            <a:xfrm>
              <a:off x="7703235" y="3720317"/>
              <a:ext cx="78040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选择面试时间 </a:t>
              </a:r>
              <a:r>
                <a:rPr lang="en-US" altLang="zh-CN" sz="1100" b="1" baseline="30000" dirty="0"/>
                <a:t>9</a:t>
              </a:r>
              <a:endParaRPr lang="zh-CN" altLang="en-US" sz="1100" b="1" dirty="0"/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B05726CC-29DA-D8B4-0F61-2265A39B71C6}"/>
                </a:ext>
              </a:extLst>
            </p:cNvPr>
            <p:cNvSpPr txBox="1"/>
            <p:nvPr/>
          </p:nvSpPr>
          <p:spPr>
            <a:xfrm>
              <a:off x="2752234" y="3720317"/>
              <a:ext cx="74892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导入课题信息</a:t>
              </a:r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BF3FF552-AEA9-0622-72ED-C31BFEE899F1}"/>
                </a:ext>
              </a:extLst>
            </p:cNvPr>
            <p:cNvSpPr txBox="1"/>
            <p:nvPr/>
          </p:nvSpPr>
          <p:spPr>
            <a:xfrm>
              <a:off x="1078158" y="6112276"/>
              <a:ext cx="74892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课题推荐</a:t>
              </a:r>
            </a:p>
          </p:txBody>
        </p:sp>
        <p:sp>
          <p:nvSpPr>
            <p:cNvPr id="69" name="矩形: 圆角 68">
              <a:extLst>
                <a:ext uri="{FF2B5EF4-FFF2-40B4-BE49-F238E27FC236}">
                  <a16:creationId xmlns:a16="http://schemas.microsoft.com/office/drawing/2014/main" id="{AFC8599A-7E13-360B-8876-3DB7AB3C3571}"/>
                </a:ext>
              </a:extLst>
            </p:cNvPr>
            <p:cNvSpPr/>
            <p:nvPr/>
          </p:nvSpPr>
          <p:spPr>
            <a:xfrm>
              <a:off x="1925121" y="1705122"/>
              <a:ext cx="686427" cy="73440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订阅课题信息</a:t>
              </a: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2AA804E3-6243-12FD-C7B7-E527A6AA4F50}"/>
                </a:ext>
              </a:extLst>
            </p:cNvPr>
            <p:cNvSpPr txBox="1"/>
            <p:nvPr/>
          </p:nvSpPr>
          <p:spPr>
            <a:xfrm>
              <a:off x="10567453" y="5846032"/>
              <a:ext cx="7863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每周数据简报</a:t>
              </a:r>
            </a:p>
          </p:txBody>
        </p: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2E337325-A89D-711A-3AB0-782AC6BA20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060" y="3580465"/>
              <a:ext cx="11073028" cy="2133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3C3BC056-7183-2BDD-5A07-68546402F5B7}"/>
                </a:ext>
              </a:extLst>
            </p:cNvPr>
            <p:cNvSpPr txBox="1"/>
            <p:nvPr/>
          </p:nvSpPr>
          <p:spPr>
            <a:xfrm>
              <a:off x="1047664" y="6443946"/>
              <a:ext cx="74892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全文查询</a:t>
              </a:r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9D98BB28-634A-4848-58D5-61B48D7594C7}"/>
                </a:ext>
              </a:extLst>
            </p:cNvPr>
            <p:cNvSpPr txBox="1"/>
            <p:nvPr/>
          </p:nvSpPr>
          <p:spPr>
            <a:xfrm>
              <a:off x="1769277" y="3720317"/>
              <a:ext cx="74892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订阅频率</a:t>
              </a: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EEBF929B-1DD9-6F24-4136-38FE166F8DAF}"/>
                </a:ext>
              </a:extLst>
            </p:cNvPr>
            <p:cNvSpPr txBox="1"/>
            <p:nvPr/>
          </p:nvSpPr>
          <p:spPr>
            <a:xfrm>
              <a:off x="1779269" y="4327063"/>
              <a:ext cx="82907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订阅内容 </a:t>
              </a:r>
              <a:r>
                <a:rPr lang="en-US" altLang="zh-CN" sz="1100" b="1" baseline="30000" dirty="0"/>
                <a:t>4</a:t>
              </a:r>
              <a:endParaRPr lang="zh-CN" altLang="en-US" sz="1100" b="1" dirty="0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FFF69245-88B9-5709-DCEA-E0DBA7DB3FCC}"/>
                </a:ext>
              </a:extLst>
            </p:cNvPr>
            <p:cNvSpPr txBox="1"/>
            <p:nvPr/>
          </p:nvSpPr>
          <p:spPr>
            <a:xfrm>
              <a:off x="1769277" y="4803061"/>
              <a:ext cx="78118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订阅推送渠道</a:t>
              </a:r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DBC06665-C700-8B61-8C60-96613338FB24}"/>
                </a:ext>
              </a:extLst>
            </p:cNvPr>
            <p:cNvSpPr txBox="1"/>
            <p:nvPr/>
          </p:nvSpPr>
          <p:spPr>
            <a:xfrm>
              <a:off x="1777371" y="5680968"/>
              <a:ext cx="7843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订阅智能推荐</a:t>
              </a:r>
            </a:p>
          </p:txBody>
        </p: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8F4DEE16-4938-D309-7628-4257F090FB75}"/>
                </a:ext>
              </a:extLst>
            </p:cNvPr>
            <p:cNvSpPr txBox="1"/>
            <p:nvPr/>
          </p:nvSpPr>
          <p:spPr>
            <a:xfrm>
              <a:off x="3555919" y="3720317"/>
              <a:ext cx="74892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导入成员需求</a:t>
              </a:r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C84B4FA4-087A-281F-6E1C-05C05191A73F}"/>
                </a:ext>
              </a:extLst>
            </p:cNvPr>
            <p:cNvSpPr txBox="1"/>
            <p:nvPr/>
          </p:nvSpPr>
          <p:spPr>
            <a:xfrm>
              <a:off x="2703706" y="4327063"/>
              <a:ext cx="77767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课题信息助手 </a:t>
              </a:r>
              <a:r>
                <a:rPr lang="en-US" altLang="zh-CN" sz="1100" b="1" baseline="30000" dirty="0"/>
                <a:t>5</a:t>
              </a:r>
              <a:endParaRPr lang="zh-CN" altLang="en-US" sz="1100" b="1" dirty="0"/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F1E575CD-86AA-342B-2B54-F85ABF9A853B}"/>
                </a:ext>
              </a:extLst>
            </p:cNvPr>
            <p:cNvSpPr txBox="1"/>
            <p:nvPr/>
          </p:nvSpPr>
          <p:spPr>
            <a:xfrm>
              <a:off x="4362463" y="2524853"/>
              <a:ext cx="74807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推送发布课题 </a:t>
              </a:r>
              <a:r>
                <a:rPr lang="en-US" altLang="zh-CN" sz="1100" b="1" baseline="30000" dirty="0"/>
                <a:t>2</a:t>
              </a:r>
              <a:endParaRPr lang="zh-CN" altLang="en-US" sz="1100" b="1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4657AF27-FF2F-2C40-04D8-FBDFCCBAEC7C}"/>
                </a:ext>
              </a:extLst>
            </p:cNvPr>
            <p:cNvSpPr txBox="1"/>
            <p:nvPr/>
          </p:nvSpPr>
          <p:spPr>
            <a:xfrm>
              <a:off x="4342600" y="5701867"/>
              <a:ext cx="87075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定向推送发布课题</a:t>
              </a:r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3CB15402-0DE7-EDF0-167D-7B38F7FBD90C}"/>
                </a:ext>
              </a:extLst>
            </p:cNvPr>
            <p:cNvSpPr txBox="1"/>
            <p:nvPr/>
          </p:nvSpPr>
          <p:spPr>
            <a:xfrm>
              <a:off x="4274733" y="3720317"/>
              <a:ext cx="83745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撤回发布课题</a:t>
              </a:r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DE378D6C-C8D1-5B3E-6460-7FCE87528488}"/>
                </a:ext>
              </a:extLst>
            </p:cNvPr>
            <p:cNvSpPr txBox="1"/>
            <p:nvPr/>
          </p:nvSpPr>
          <p:spPr>
            <a:xfrm>
              <a:off x="4342600" y="6143864"/>
              <a:ext cx="87075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预设发布课题</a:t>
              </a:r>
            </a:p>
          </p:txBody>
        </p: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ABF84830-71D6-9120-AE46-A1D69E0AFD36}"/>
                </a:ext>
              </a:extLst>
            </p:cNvPr>
            <p:cNvSpPr txBox="1"/>
            <p:nvPr/>
          </p:nvSpPr>
          <p:spPr>
            <a:xfrm>
              <a:off x="4228995" y="4288903"/>
              <a:ext cx="83555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自动撤回发布课题 </a:t>
              </a:r>
              <a:r>
                <a:rPr lang="en-US" altLang="zh-CN" sz="1100" b="1" baseline="30000" dirty="0"/>
                <a:t>7</a:t>
              </a:r>
              <a:endParaRPr lang="zh-CN" altLang="en-US" sz="1100" b="1" dirty="0"/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3A6EB09C-AFC8-A0A3-CBE7-09FBCD1919ED}"/>
                </a:ext>
              </a:extLst>
            </p:cNvPr>
            <p:cNvSpPr txBox="1"/>
            <p:nvPr/>
          </p:nvSpPr>
          <p:spPr>
            <a:xfrm>
              <a:off x="5174805" y="4390984"/>
              <a:ext cx="905601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基于简历自动生成专业信息</a:t>
              </a:r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349D7E74-5883-8123-3C73-0DBF82DB3F15}"/>
                </a:ext>
              </a:extLst>
            </p:cNvPr>
            <p:cNvSpPr txBox="1"/>
            <p:nvPr/>
          </p:nvSpPr>
          <p:spPr>
            <a:xfrm>
              <a:off x="5156023" y="5701867"/>
              <a:ext cx="87075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AI</a:t>
              </a:r>
              <a:r>
                <a:rPr lang="zh-CN" altLang="en-US" sz="1100" b="1" dirty="0"/>
                <a:t>自动生成</a:t>
              </a:r>
            </a:p>
          </p:txBody>
        </p: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D5143239-7E6D-AE2A-31B9-1C61A97E9CB9}"/>
                </a:ext>
              </a:extLst>
            </p:cNvPr>
            <p:cNvSpPr txBox="1"/>
            <p:nvPr/>
          </p:nvSpPr>
          <p:spPr>
            <a:xfrm>
              <a:off x="6806571" y="2559785"/>
              <a:ext cx="81923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推送成员申请</a:t>
              </a:r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9077CDF8-8DEA-D6F4-F804-D7191AB945E4}"/>
                </a:ext>
              </a:extLst>
            </p:cNvPr>
            <p:cNvSpPr txBox="1"/>
            <p:nvPr/>
          </p:nvSpPr>
          <p:spPr>
            <a:xfrm>
              <a:off x="5274930" y="2555512"/>
              <a:ext cx="80547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编辑基本信息 </a:t>
              </a:r>
              <a:r>
                <a:rPr lang="en-US" altLang="zh-CN" sz="1100" b="1" baseline="30000" dirty="0"/>
                <a:t>3</a:t>
              </a:r>
              <a:endParaRPr lang="zh-CN" altLang="en-US" sz="1100" b="1" dirty="0"/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487B3151-98DA-5A12-B2C5-2954A19F3D10}"/>
                </a:ext>
              </a:extLst>
            </p:cNvPr>
            <p:cNvSpPr txBox="1"/>
            <p:nvPr/>
          </p:nvSpPr>
          <p:spPr>
            <a:xfrm>
              <a:off x="6092245" y="3720317"/>
              <a:ext cx="118176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撤回申请</a:t>
              </a:r>
            </a:p>
          </p:txBody>
        </p: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32268E0F-56AF-24F6-0B54-461D56C970CB}"/>
                </a:ext>
              </a:extLst>
            </p:cNvPr>
            <p:cNvSpPr txBox="1"/>
            <p:nvPr/>
          </p:nvSpPr>
          <p:spPr>
            <a:xfrm>
              <a:off x="6080406" y="4389270"/>
              <a:ext cx="79512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自动撤回申请 </a:t>
              </a:r>
              <a:r>
                <a:rPr lang="en-US" altLang="zh-CN" sz="1100" b="1" baseline="30000" dirty="0"/>
                <a:t>8</a:t>
              </a:r>
              <a:endParaRPr lang="zh-CN" altLang="en-US" sz="1100" b="1" dirty="0"/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9196E204-32E8-B92A-C45E-CA2C28914B64}"/>
                </a:ext>
              </a:extLst>
            </p:cNvPr>
            <p:cNvSpPr txBox="1"/>
            <p:nvPr/>
          </p:nvSpPr>
          <p:spPr>
            <a:xfrm>
              <a:off x="9570937" y="1000010"/>
              <a:ext cx="100204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消息与通知中心</a:t>
              </a:r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606479F5-7A2A-0640-3758-5EDE6591CB2D}"/>
                </a:ext>
              </a:extLst>
            </p:cNvPr>
            <p:cNvSpPr txBox="1"/>
            <p:nvPr/>
          </p:nvSpPr>
          <p:spPr>
            <a:xfrm>
              <a:off x="9570937" y="3720317"/>
              <a:ext cx="78040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我的消息列表</a:t>
              </a:r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1D9C7CAB-A0D7-E111-7DAB-CF5F50CBF6F2}"/>
                </a:ext>
              </a:extLst>
            </p:cNvPr>
            <p:cNvSpPr txBox="1"/>
            <p:nvPr/>
          </p:nvSpPr>
          <p:spPr>
            <a:xfrm>
              <a:off x="10600871" y="3753553"/>
              <a:ext cx="87521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导师看板</a:t>
              </a:r>
            </a:p>
          </p:txBody>
        </p: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9D02F407-53CE-922E-59E7-B4CFB6D16F53}"/>
                </a:ext>
              </a:extLst>
            </p:cNvPr>
            <p:cNvSpPr txBox="1"/>
            <p:nvPr/>
          </p:nvSpPr>
          <p:spPr>
            <a:xfrm>
              <a:off x="9570937" y="4553849"/>
              <a:ext cx="118176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消息提醒</a:t>
              </a:r>
              <a:r>
                <a:rPr lang="en-US" altLang="zh-CN" sz="1100" b="1" baseline="30000" dirty="0"/>
                <a:t>10</a:t>
              </a:r>
              <a:endParaRPr lang="zh-CN" altLang="en-US" sz="1100" b="1" baseline="30000" dirty="0"/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C8093E62-83AC-9DB7-4216-9BE16DB12FDC}"/>
                </a:ext>
              </a:extLst>
            </p:cNvPr>
            <p:cNvSpPr txBox="1"/>
            <p:nvPr/>
          </p:nvSpPr>
          <p:spPr>
            <a:xfrm>
              <a:off x="9570937" y="4862612"/>
              <a:ext cx="78040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合并消息提醒</a:t>
              </a:r>
            </a:p>
          </p:txBody>
        </p:sp>
        <p:sp>
          <p:nvSpPr>
            <p:cNvPr id="109" name="文本框 108">
              <a:extLst>
                <a:ext uri="{FF2B5EF4-FFF2-40B4-BE49-F238E27FC236}">
                  <a16:creationId xmlns:a16="http://schemas.microsoft.com/office/drawing/2014/main" id="{A4716C52-4B1A-FA28-47D9-E63FA9A17F71}"/>
                </a:ext>
              </a:extLst>
            </p:cNvPr>
            <p:cNvSpPr txBox="1"/>
            <p:nvPr/>
          </p:nvSpPr>
          <p:spPr>
            <a:xfrm>
              <a:off x="6935257" y="5640744"/>
              <a:ext cx="80089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 dirty="0"/>
                <a:t>AI</a:t>
              </a:r>
              <a:r>
                <a:rPr lang="zh-CN" altLang="en-US" sz="1100" b="1" dirty="0"/>
                <a:t>生成匹配度报告</a:t>
              </a:r>
            </a:p>
          </p:txBody>
        </p: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2B0D0A95-96BB-0148-2DA6-BB8F504C1E65}"/>
                </a:ext>
              </a:extLst>
            </p:cNvPr>
            <p:cNvSpPr txBox="1"/>
            <p:nvPr/>
          </p:nvSpPr>
          <p:spPr>
            <a:xfrm>
              <a:off x="6847482" y="3720317"/>
              <a:ext cx="79512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批量审核</a:t>
              </a:r>
            </a:p>
          </p:txBody>
        </p: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68935263-AD92-77A5-2679-140F466790E2}"/>
                </a:ext>
              </a:extLst>
            </p:cNvPr>
            <p:cNvSpPr txBox="1"/>
            <p:nvPr/>
          </p:nvSpPr>
          <p:spPr>
            <a:xfrm>
              <a:off x="7745750" y="2536145"/>
              <a:ext cx="75345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协商面试时间</a:t>
              </a:r>
            </a:p>
          </p:txBody>
        </p:sp>
        <p:sp>
          <p:nvSpPr>
            <p:cNvPr id="114" name="矩形: 圆角 113">
              <a:extLst>
                <a:ext uri="{FF2B5EF4-FFF2-40B4-BE49-F238E27FC236}">
                  <a16:creationId xmlns:a16="http://schemas.microsoft.com/office/drawing/2014/main" id="{528078DB-F3FF-5F64-9C19-079CCF9299A6}"/>
                </a:ext>
              </a:extLst>
            </p:cNvPr>
            <p:cNvSpPr/>
            <p:nvPr/>
          </p:nvSpPr>
          <p:spPr>
            <a:xfrm>
              <a:off x="9597996" y="1705122"/>
              <a:ext cx="686427" cy="734400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消息跟踪管理</a:t>
              </a:r>
            </a:p>
          </p:txBody>
        </p:sp>
        <p:sp>
          <p:nvSpPr>
            <p:cNvPr id="115" name="文本框 114">
              <a:extLst>
                <a:ext uri="{FF2B5EF4-FFF2-40B4-BE49-F238E27FC236}">
                  <a16:creationId xmlns:a16="http://schemas.microsoft.com/office/drawing/2014/main" id="{DA2E5BEB-3678-BC77-EAEB-F00CCFA551DB}"/>
                </a:ext>
              </a:extLst>
            </p:cNvPr>
            <p:cNvSpPr txBox="1"/>
            <p:nvPr/>
          </p:nvSpPr>
          <p:spPr>
            <a:xfrm>
              <a:off x="10572977" y="1023996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数据看板</a:t>
              </a:r>
            </a:p>
          </p:txBody>
        </p:sp>
        <p:sp>
          <p:nvSpPr>
            <p:cNvPr id="116" name="矩形: 圆角 115">
              <a:extLst>
                <a:ext uri="{FF2B5EF4-FFF2-40B4-BE49-F238E27FC236}">
                  <a16:creationId xmlns:a16="http://schemas.microsoft.com/office/drawing/2014/main" id="{356F4A86-0CE4-981C-6C91-A98D6624FCF2}"/>
                </a:ext>
              </a:extLst>
            </p:cNvPr>
            <p:cNvSpPr/>
            <p:nvPr/>
          </p:nvSpPr>
          <p:spPr>
            <a:xfrm>
              <a:off x="10623539" y="1705122"/>
              <a:ext cx="686427" cy="734400"/>
            </a:xfrm>
            <a:prstGeom prst="roundRect">
              <a:avLst/>
            </a:prstGeom>
            <a:solidFill>
              <a:srgbClr val="69FDF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数据看板</a:t>
              </a:r>
            </a:p>
          </p:txBody>
        </p: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E04D5034-21B6-C7BD-8CD4-9DD1F5B3810A}"/>
                </a:ext>
              </a:extLst>
            </p:cNvPr>
            <p:cNvSpPr txBox="1"/>
            <p:nvPr/>
          </p:nvSpPr>
          <p:spPr>
            <a:xfrm>
              <a:off x="5286769" y="2978605"/>
              <a:ext cx="80547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填写专业信息</a:t>
              </a:r>
            </a:p>
          </p:txBody>
        </p: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68FA0D5D-7F5B-3830-CBA1-49725D05E7E1}"/>
                </a:ext>
              </a:extLst>
            </p:cNvPr>
            <p:cNvCxnSpPr>
              <a:cxnSpLocks/>
            </p:cNvCxnSpPr>
            <p:nvPr/>
          </p:nvCxnSpPr>
          <p:spPr>
            <a:xfrm>
              <a:off x="403059" y="5441626"/>
              <a:ext cx="10950741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文本框 121">
              <a:extLst>
                <a:ext uri="{FF2B5EF4-FFF2-40B4-BE49-F238E27FC236}">
                  <a16:creationId xmlns:a16="http://schemas.microsoft.com/office/drawing/2014/main" id="{8D678717-4D4E-9038-A23B-0C59E889B473}"/>
                </a:ext>
              </a:extLst>
            </p:cNvPr>
            <p:cNvSpPr txBox="1"/>
            <p:nvPr/>
          </p:nvSpPr>
          <p:spPr>
            <a:xfrm>
              <a:off x="298679" y="2793939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v0.1</a:t>
              </a:r>
              <a:endParaRPr lang="zh-CN" altLang="en-US" dirty="0"/>
            </a:p>
          </p:txBody>
        </p:sp>
        <p:sp>
          <p:nvSpPr>
            <p:cNvPr id="123" name="文本框 122">
              <a:extLst>
                <a:ext uri="{FF2B5EF4-FFF2-40B4-BE49-F238E27FC236}">
                  <a16:creationId xmlns:a16="http://schemas.microsoft.com/office/drawing/2014/main" id="{825B0C67-6977-75BC-C304-8E3AFE868FBA}"/>
                </a:ext>
              </a:extLst>
            </p:cNvPr>
            <p:cNvSpPr txBox="1"/>
            <p:nvPr/>
          </p:nvSpPr>
          <p:spPr>
            <a:xfrm>
              <a:off x="319472" y="4292455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v0.2</a:t>
              </a:r>
              <a:endParaRPr lang="zh-CN" altLang="en-US" dirty="0"/>
            </a:p>
          </p:txBody>
        </p:sp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id="{452C32FE-AE18-DBA3-9837-7381FFABB19B}"/>
                </a:ext>
              </a:extLst>
            </p:cNvPr>
            <p:cNvSpPr txBox="1"/>
            <p:nvPr/>
          </p:nvSpPr>
          <p:spPr>
            <a:xfrm>
              <a:off x="133253" y="5832672"/>
              <a:ext cx="8915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err="1"/>
                <a:t>LabLink</a:t>
              </a:r>
              <a:endParaRPr lang="zh-CN" altLang="en-US" dirty="0"/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C6298A1C-7CA0-5982-14AF-2FBF7A08C34C}"/>
                </a:ext>
              </a:extLst>
            </p:cNvPr>
            <p:cNvSpPr txBox="1"/>
            <p:nvPr/>
          </p:nvSpPr>
          <p:spPr>
            <a:xfrm>
              <a:off x="9570937" y="4097357"/>
              <a:ext cx="78040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消息状态跟踪</a:t>
              </a:r>
            </a:p>
          </p:txBody>
        </p:sp>
        <p:sp>
          <p:nvSpPr>
            <p:cNvPr id="126" name="文本框 125">
              <a:extLst>
                <a:ext uri="{FF2B5EF4-FFF2-40B4-BE49-F238E27FC236}">
                  <a16:creationId xmlns:a16="http://schemas.microsoft.com/office/drawing/2014/main" id="{C33D986B-62F8-E75B-021B-FE281B83D010}"/>
                </a:ext>
              </a:extLst>
            </p:cNvPr>
            <p:cNvSpPr txBox="1"/>
            <p:nvPr/>
          </p:nvSpPr>
          <p:spPr>
            <a:xfrm>
              <a:off x="10600871" y="4135348"/>
              <a:ext cx="87521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学生看板</a:t>
              </a:r>
            </a:p>
          </p:txBody>
        </p:sp>
        <p:sp>
          <p:nvSpPr>
            <p:cNvPr id="127" name="文本框 126">
              <a:extLst>
                <a:ext uri="{FF2B5EF4-FFF2-40B4-BE49-F238E27FC236}">
                  <a16:creationId xmlns:a16="http://schemas.microsoft.com/office/drawing/2014/main" id="{172B4DAC-D251-99BB-2D82-07FE03D7F758}"/>
                </a:ext>
              </a:extLst>
            </p:cNvPr>
            <p:cNvSpPr txBox="1"/>
            <p:nvPr/>
          </p:nvSpPr>
          <p:spPr>
            <a:xfrm>
              <a:off x="10572977" y="4557320"/>
              <a:ext cx="87521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课题看板</a:t>
              </a:r>
            </a:p>
          </p:txBody>
        </p: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7ECAFD6F-980A-7A40-E880-BF88B61BFEB1}"/>
                </a:ext>
              </a:extLst>
            </p:cNvPr>
            <p:cNvSpPr txBox="1"/>
            <p:nvPr/>
          </p:nvSpPr>
          <p:spPr>
            <a:xfrm>
              <a:off x="10572977" y="5560844"/>
              <a:ext cx="87521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全局看板</a:t>
              </a:r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9EF4B5BF-2105-37C7-8BBD-799A00DA7C1A}"/>
                </a:ext>
              </a:extLst>
            </p:cNvPr>
            <p:cNvSpPr txBox="1"/>
            <p:nvPr/>
          </p:nvSpPr>
          <p:spPr>
            <a:xfrm>
              <a:off x="3463340" y="4320084"/>
              <a:ext cx="77767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课题成员助手 </a:t>
              </a:r>
              <a:r>
                <a:rPr lang="en-US" altLang="zh-CN" sz="1100" b="1" baseline="30000" dirty="0"/>
                <a:t>6</a:t>
              </a:r>
              <a:endParaRPr lang="zh-CN" altLang="en-US" sz="1100" b="1" dirty="0"/>
            </a:p>
          </p:txBody>
        </p:sp>
      </p:grpSp>
      <p:sp>
        <p:nvSpPr>
          <p:cNvPr id="130" name="Rectangle 2">
            <a:extLst>
              <a:ext uri="{FF2B5EF4-FFF2-40B4-BE49-F238E27FC236}">
                <a16:creationId xmlns:a16="http://schemas.microsoft.com/office/drawing/2014/main" id="{4BC93C4F-0CED-E213-0FF4-4C20D198E5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2594" y="52035"/>
            <a:ext cx="10515600" cy="820208"/>
          </a:xfrm>
        </p:spPr>
        <p:txBody>
          <a:bodyPr>
            <a:normAutofit/>
          </a:bodyPr>
          <a:lstStyle/>
          <a:p>
            <a:r>
              <a:rPr lang="en-US" altLang="zh-CN" sz="4000" dirty="0" err="1"/>
              <a:t>LabLink</a:t>
            </a:r>
            <a:r>
              <a:rPr lang="zh-CN" altLang="en-US" sz="4000" dirty="0"/>
              <a:t>用户需求总览</a:t>
            </a:r>
          </a:p>
        </p:txBody>
      </p:sp>
    </p:spTree>
    <p:extLst>
      <p:ext uri="{BB962C8B-B14F-4D97-AF65-F5344CB8AC3E}">
        <p14:creationId xmlns:p14="http://schemas.microsoft.com/office/powerpoint/2010/main" val="43474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FCDC922-DE75-225B-C000-60239FE63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5516"/>
            <a:ext cx="10515600" cy="4636030"/>
          </a:xfrm>
        </p:spPr>
        <p:txBody>
          <a:bodyPr/>
          <a:lstStyle/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z="2000" dirty="0">
                <a:latin typeface="+mn-ea"/>
              </a:rPr>
              <a:t>当前用户界面仅实现了</a:t>
            </a:r>
            <a:r>
              <a:rPr lang="en-US" altLang="zh-CN" sz="2000" dirty="0">
                <a:latin typeface="+mn-ea"/>
              </a:rPr>
              <a:t>PC</a:t>
            </a:r>
            <a:r>
              <a:rPr lang="zh-CN" altLang="en-US" sz="2000" dirty="0">
                <a:latin typeface="+mn-ea"/>
              </a:rPr>
              <a:t>端，需要</a:t>
            </a:r>
            <a:r>
              <a:rPr lang="en-US" altLang="zh-CN" sz="2000" dirty="0">
                <a:latin typeface="+mn-ea"/>
              </a:rPr>
              <a:t>h5</a:t>
            </a:r>
            <a:r>
              <a:rPr lang="zh-CN" altLang="en-US" sz="2000" dirty="0">
                <a:latin typeface="+mn-ea"/>
              </a:rPr>
              <a:t>的实现</a:t>
            </a:r>
            <a:r>
              <a:rPr lang="en-US" altLang="zh-CN" sz="2000" dirty="0">
                <a:latin typeface="+mn-ea"/>
              </a:rPr>
              <a:t>;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z="2000" dirty="0">
                <a:latin typeface="+mn-ea"/>
              </a:rPr>
              <a:t>目前各类信息推送仅支持企业微信内推送的实现方式，可以支持其他实现方式，如短信、电子邮件等</a:t>
            </a:r>
            <a:r>
              <a:rPr lang="en-US" altLang="zh-CN" sz="2000" dirty="0">
                <a:latin typeface="+mn-ea"/>
              </a:rPr>
              <a:t>;</a:t>
            </a:r>
            <a:endParaRPr lang="zh-CN" altLang="en-US" sz="2000" dirty="0">
              <a:latin typeface="+mn-ea"/>
            </a:endParaRP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z="2000" dirty="0">
                <a:latin typeface="+mn-ea"/>
              </a:rPr>
              <a:t>编辑基本信息的含义是在教务系统提供的部分信息基础上，补充其他信息</a:t>
            </a:r>
            <a:r>
              <a:rPr lang="en-US" altLang="zh-CN" sz="2000" dirty="0">
                <a:latin typeface="+mn-ea"/>
              </a:rPr>
              <a:t>;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z="2000" dirty="0">
                <a:latin typeface="+mn-ea"/>
              </a:rPr>
              <a:t>订阅内容的实现可包括按课题属性订阅，导师订阅，课题分类订阅</a:t>
            </a:r>
            <a:r>
              <a:rPr lang="en-US" altLang="zh-CN" sz="2000" dirty="0">
                <a:latin typeface="+mn-ea"/>
              </a:rPr>
              <a:t>;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z="2000" dirty="0">
                <a:latin typeface="+mn-ea"/>
              </a:rPr>
              <a:t>基于已有的一些项目文档资料，例如项目申请书，任务书等，分析生成部分</a:t>
            </a:r>
            <a:r>
              <a:rPr lang="en-US" altLang="zh-CN" sz="2000" dirty="0">
                <a:latin typeface="+mn-ea"/>
              </a:rPr>
              <a:t>/</a:t>
            </a:r>
            <a:r>
              <a:rPr lang="zh-CN" altLang="en-US" sz="2000" dirty="0">
                <a:latin typeface="+mn-ea"/>
              </a:rPr>
              <a:t>全部课题信息和成员需求信息</a:t>
            </a:r>
            <a:r>
              <a:rPr lang="en-US" altLang="zh-CN" sz="2000" dirty="0">
                <a:latin typeface="+mn-ea"/>
              </a:rPr>
              <a:t>;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z="2000" dirty="0">
                <a:latin typeface="+mn-ea"/>
              </a:rPr>
              <a:t>同第</a:t>
            </a:r>
            <a:r>
              <a:rPr lang="en-US" altLang="zh-CN" sz="2000" dirty="0">
                <a:latin typeface="+mn-ea"/>
              </a:rPr>
              <a:t>5</a:t>
            </a:r>
            <a:r>
              <a:rPr lang="zh-CN" altLang="en-US" sz="2000" dirty="0">
                <a:latin typeface="+mn-ea"/>
              </a:rPr>
              <a:t>点的说明</a:t>
            </a:r>
            <a:r>
              <a:rPr lang="en-US" altLang="zh-CN" sz="2000" dirty="0">
                <a:latin typeface="+mn-ea"/>
              </a:rPr>
              <a:t>;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z="2000" dirty="0">
                <a:latin typeface="+mn-ea"/>
              </a:rPr>
              <a:t>自动撤回发布课题，如课题有效期到期</a:t>
            </a:r>
            <a:r>
              <a:rPr lang="en-US" altLang="zh-CN" sz="2000" dirty="0">
                <a:latin typeface="+mn-ea"/>
              </a:rPr>
              <a:t>;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z="2000" dirty="0">
                <a:latin typeface="+mn-ea"/>
              </a:rPr>
              <a:t>自动撤回申请，比如已发布的课题撤回，项目申请时间到了，课题发布人没有回复</a:t>
            </a:r>
            <a:r>
              <a:rPr lang="en-US" altLang="zh-CN" sz="2000" dirty="0">
                <a:latin typeface="+mn-ea"/>
              </a:rPr>
              <a:t>;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z="2000" dirty="0">
                <a:latin typeface="+mn-ea"/>
              </a:rPr>
              <a:t>根据课题发布人给出的面试时间进行选择；</a:t>
            </a:r>
            <a:endParaRPr lang="en-US" altLang="zh-CN" sz="2000" dirty="0">
              <a:latin typeface="+mn-ea"/>
            </a:endParaRP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z="2000" dirty="0">
                <a:latin typeface="+mn-ea"/>
              </a:rPr>
              <a:t>消息提醒，确保重要消息能够尽可能送达接收人，例如，申请信息长时间没被审核等；</a:t>
            </a:r>
            <a:endParaRPr lang="en-US" altLang="zh-CN" sz="2000" dirty="0">
              <a:latin typeface="+mn-ea"/>
            </a:endParaRP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endParaRPr lang="zh-CN" altLang="en-US" sz="2000" dirty="0">
              <a:latin typeface="+mn-ea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zh-CN" altLang="en-US" b="1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zh-CN" altLang="en-US" b="1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2EBC3E6-17B3-575F-9589-5455E407D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进一步说明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DD8A8A-5DB8-43E3-5EA1-2276392AE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C0C45-8306-4019-8B11-4AC3BFD5B435}" type="datetime1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FCF616-D65F-767D-9A38-52A438C77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软件工程实践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A0E6FA-CB0C-83A2-9A33-0E9C06612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B36-6B10-4A46-AD7A-8806ECE7309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4798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46A58-B3C6-3E00-AF91-333EAC4D8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0DBF0A69-7535-B785-74A4-296303B55061}"/>
              </a:ext>
            </a:extLst>
          </p:cNvPr>
          <p:cNvGrpSpPr/>
          <p:nvPr/>
        </p:nvGrpSpPr>
        <p:grpSpPr>
          <a:xfrm>
            <a:off x="360698" y="873142"/>
            <a:ext cx="11244491" cy="5731853"/>
            <a:chOff x="188575" y="182429"/>
            <a:chExt cx="11244491" cy="573185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12EA737E-F0E7-B914-7617-6776BF79066C}"/>
                </a:ext>
              </a:extLst>
            </p:cNvPr>
            <p:cNvSpPr/>
            <p:nvPr/>
          </p:nvSpPr>
          <p:spPr>
            <a:xfrm>
              <a:off x="9215731" y="182430"/>
              <a:ext cx="2217335" cy="427215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50800"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233414CD-CE38-1F31-432A-F19C8E40C004}"/>
                </a:ext>
              </a:extLst>
            </p:cNvPr>
            <p:cNvSpPr/>
            <p:nvPr/>
          </p:nvSpPr>
          <p:spPr>
            <a:xfrm>
              <a:off x="2617272" y="887541"/>
              <a:ext cx="687785" cy="732518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录入课题信息</a:t>
              </a:r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CBE601FB-2CB9-29E5-6581-A5B3FF8F7B57}"/>
                </a:ext>
              </a:extLst>
            </p:cNvPr>
            <p:cNvSpPr/>
            <p:nvPr/>
          </p:nvSpPr>
          <p:spPr>
            <a:xfrm>
              <a:off x="3390293" y="887541"/>
              <a:ext cx="687785" cy="732518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录入成员需求</a:t>
              </a: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AD844023-FF82-761A-6432-31B58630E311}"/>
                </a:ext>
              </a:extLst>
            </p:cNvPr>
            <p:cNvSpPr/>
            <p:nvPr/>
          </p:nvSpPr>
          <p:spPr>
            <a:xfrm>
              <a:off x="4163641" y="885659"/>
              <a:ext cx="686427" cy="7344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发布课题</a:t>
              </a:r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B6DE6C76-0381-3B83-6A2C-BF66C3F65A3D}"/>
                </a:ext>
              </a:extLst>
            </p:cNvPr>
            <p:cNvSpPr/>
            <p:nvPr/>
          </p:nvSpPr>
          <p:spPr>
            <a:xfrm>
              <a:off x="951440" y="887541"/>
              <a:ext cx="686427" cy="73440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浏览课题</a:t>
              </a:r>
            </a:p>
          </p:txBody>
        </p:sp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D9BE065D-F746-8138-BC30-DBD529E5891B}"/>
                </a:ext>
              </a:extLst>
            </p:cNvPr>
            <p:cNvSpPr/>
            <p:nvPr/>
          </p:nvSpPr>
          <p:spPr>
            <a:xfrm>
              <a:off x="5097799" y="887541"/>
              <a:ext cx="686427" cy="73440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填写成员申请</a:t>
              </a:r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20C6E183-B9B5-6DAF-C347-D86A59A6577D}"/>
                </a:ext>
              </a:extLst>
            </p:cNvPr>
            <p:cNvSpPr/>
            <p:nvPr/>
          </p:nvSpPr>
          <p:spPr>
            <a:xfrm>
              <a:off x="6648941" y="887541"/>
              <a:ext cx="646234" cy="73440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审核</a:t>
              </a:r>
              <a:endPara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成员</a:t>
              </a:r>
              <a:endPara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申请</a:t>
              </a:r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F0DF494A-F1B1-AB42-DAEC-E770AE4E05B7}"/>
                </a:ext>
              </a:extLst>
            </p:cNvPr>
            <p:cNvSpPr/>
            <p:nvPr/>
          </p:nvSpPr>
          <p:spPr>
            <a:xfrm>
              <a:off x="7603417" y="887541"/>
              <a:ext cx="686427" cy="7344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预约面试</a:t>
              </a:r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281B48B9-6BBD-7361-3CE3-BB602B949BEB}"/>
                </a:ext>
              </a:extLst>
            </p:cNvPr>
            <p:cNvSpPr/>
            <p:nvPr/>
          </p:nvSpPr>
          <p:spPr>
            <a:xfrm>
              <a:off x="8387764" y="887541"/>
              <a:ext cx="686427" cy="7344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通知招募结果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71866CA3-9040-F520-4832-710E9E337839}"/>
                </a:ext>
              </a:extLst>
            </p:cNvPr>
            <p:cNvSpPr txBox="1"/>
            <p:nvPr/>
          </p:nvSpPr>
          <p:spPr>
            <a:xfrm>
              <a:off x="2556094" y="1720223"/>
              <a:ext cx="81014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录入课题信息</a:t>
              </a: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E14AA4BA-85F4-1196-CDC4-0009D961EB1A}"/>
                </a:ext>
              </a:extLst>
            </p:cNvPr>
            <p:cNvSpPr txBox="1"/>
            <p:nvPr/>
          </p:nvSpPr>
          <p:spPr>
            <a:xfrm>
              <a:off x="3401551" y="1718564"/>
              <a:ext cx="74807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录入成员需求</a:t>
              </a: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E655DE65-FC69-5CE3-D0D0-2223C210717F}"/>
                </a:ext>
              </a:extLst>
            </p:cNvPr>
            <p:cNvSpPr txBox="1"/>
            <p:nvPr/>
          </p:nvSpPr>
          <p:spPr>
            <a:xfrm>
              <a:off x="900497" y="1736104"/>
              <a:ext cx="81014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课题分类展示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6F6ECAC6-1465-B638-7834-0F5FE9901E69}"/>
                </a:ext>
              </a:extLst>
            </p:cNvPr>
            <p:cNvSpPr txBox="1"/>
            <p:nvPr/>
          </p:nvSpPr>
          <p:spPr>
            <a:xfrm>
              <a:off x="887084" y="2190390"/>
              <a:ext cx="74892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筛选课题</a:t>
              </a: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A1C841F1-B901-A0B4-C171-6BA7CB066557}"/>
                </a:ext>
              </a:extLst>
            </p:cNvPr>
            <p:cNvSpPr txBox="1"/>
            <p:nvPr/>
          </p:nvSpPr>
          <p:spPr>
            <a:xfrm>
              <a:off x="872127" y="2458962"/>
              <a:ext cx="74892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查询课题</a:t>
              </a: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81ED5DA7-5E58-7453-0073-CDD6F1585283}"/>
                </a:ext>
              </a:extLst>
            </p:cNvPr>
            <p:cNvSpPr txBox="1"/>
            <p:nvPr/>
          </p:nvSpPr>
          <p:spPr>
            <a:xfrm>
              <a:off x="5805225" y="1733640"/>
              <a:ext cx="80547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填写申请信息</a:t>
              </a: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055CE246-A063-907B-33FD-B6AD50B87977}"/>
                </a:ext>
              </a:extLst>
            </p:cNvPr>
            <p:cNvSpPr txBox="1"/>
            <p:nvPr/>
          </p:nvSpPr>
          <p:spPr>
            <a:xfrm>
              <a:off x="4963912" y="2891978"/>
              <a:ext cx="881604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教务系统自动填写基本信息</a:t>
              </a:r>
            </a:p>
          </p:txBody>
        </p:sp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AD5C6CBE-986C-9F7B-1FCC-3D71DF0425BE}"/>
                </a:ext>
              </a:extLst>
            </p:cNvPr>
            <p:cNvSpPr/>
            <p:nvPr/>
          </p:nvSpPr>
          <p:spPr>
            <a:xfrm>
              <a:off x="5877761" y="887541"/>
              <a:ext cx="686427" cy="73440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提交成员申请</a:t>
              </a: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543E384C-4EA1-FE52-78F8-B42D30EAB2F0}"/>
                </a:ext>
              </a:extLst>
            </p:cNvPr>
            <p:cNvSpPr txBox="1"/>
            <p:nvPr/>
          </p:nvSpPr>
          <p:spPr>
            <a:xfrm>
              <a:off x="8305083" y="1734880"/>
              <a:ext cx="80062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通知招募结果</a:t>
              </a: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A632591E-9A0F-2E70-921E-2E9266A2AC63}"/>
                </a:ext>
              </a:extLst>
            </p:cNvPr>
            <p:cNvSpPr txBox="1"/>
            <p:nvPr/>
          </p:nvSpPr>
          <p:spPr>
            <a:xfrm>
              <a:off x="916565" y="182429"/>
              <a:ext cx="108205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课题全景信息</a:t>
              </a: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112FE7CA-0206-798D-964C-9CAC1395CA0A}"/>
                </a:ext>
              </a:extLst>
            </p:cNvPr>
            <p:cNvSpPr txBox="1"/>
            <p:nvPr/>
          </p:nvSpPr>
          <p:spPr>
            <a:xfrm>
              <a:off x="2697621" y="182429"/>
              <a:ext cx="108205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导师发布课题</a:t>
              </a: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6AF5E676-6E49-E024-7B91-A29ABCBBFC62}"/>
                </a:ext>
              </a:extLst>
            </p:cNvPr>
            <p:cNvSpPr txBox="1"/>
            <p:nvPr/>
          </p:nvSpPr>
          <p:spPr>
            <a:xfrm>
              <a:off x="5100415" y="182429"/>
              <a:ext cx="108205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学生在线申请</a:t>
              </a: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336A49D7-C1DB-C4CA-ED76-533F5EA73B70}"/>
                </a:ext>
              </a:extLst>
            </p:cNvPr>
            <p:cNvSpPr txBox="1"/>
            <p:nvPr/>
          </p:nvSpPr>
          <p:spPr>
            <a:xfrm>
              <a:off x="7556669" y="182429"/>
              <a:ext cx="110799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申请流程管理</a:t>
              </a:r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8491B5EE-627D-5DFC-B795-F51E1F1A2862}"/>
                </a:ext>
              </a:extLst>
            </p:cNvPr>
            <p:cNvSpPr txBox="1"/>
            <p:nvPr/>
          </p:nvSpPr>
          <p:spPr>
            <a:xfrm>
              <a:off x="7488751" y="2902736"/>
              <a:ext cx="78040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选择面试时间</a:t>
              </a:r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2C56A1C9-EF3D-19CD-42CB-9F7E5E5F2A1A}"/>
                </a:ext>
              </a:extLst>
            </p:cNvPr>
            <p:cNvSpPr txBox="1"/>
            <p:nvPr/>
          </p:nvSpPr>
          <p:spPr>
            <a:xfrm>
              <a:off x="2537750" y="2902736"/>
              <a:ext cx="74892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导入课题信息</a:t>
              </a:r>
            </a:p>
          </p:txBody>
        </p:sp>
        <p:sp>
          <p:nvSpPr>
            <p:cNvPr id="69" name="矩形: 圆角 68">
              <a:extLst>
                <a:ext uri="{FF2B5EF4-FFF2-40B4-BE49-F238E27FC236}">
                  <a16:creationId xmlns:a16="http://schemas.microsoft.com/office/drawing/2014/main" id="{D8B81D8A-4604-01B0-C96F-766DB670D8FB}"/>
                </a:ext>
              </a:extLst>
            </p:cNvPr>
            <p:cNvSpPr/>
            <p:nvPr/>
          </p:nvSpPr>
          <p:spPr>
            <a:xfrm>
              <a:off x="1710637" y="887541"/>
              <a:ext cx="686427" cy="73440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订阅课题信息</a:t>
              </a:r>
            </a:p>
          </p:txBody>
        </p: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DC9A840D-2925-75E3-CFF0-C76984BAEA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8576" y="2762884"/>
              <a:ext cx="10862343" cy="2133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375D738A-554D-260D-789D-C97E08D545E9}"/>
                </a:ext>
              </a:extLst>
            </p:cNvPr>
            <p:cNvSpPr txBox="1"/>
            <p:nvPr/>
          </p:nvSpPr>
          <p:spPr>
            <a:xfrm>
              <a:off x="1554793" y="2902736"/>
              <a:ext cx="74892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订阅频率</a:t>
              </a: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D2C028E0-42A9-860B-A25A-5C46F38CF71A}"/>
                </a:ext>
              </a:extLst>
            </p:cNvPr>
            <p:cNvSpPr txBox="1"/>
            <p:nvPr/>
          </p:nvSpPr>
          <p:spPr>
            <a:xfrm>
              <a:off x="1564785" y="3509482"/>
              <a:ext cx="74892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订阅内容</a:t>
              </a:r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4B3C5913-D61B-8144-7296-762D8A023F6C}"/>
                </a:ext>
              </a:extLst>
            </p:cNvPr>
            <p:cNvSpPr txBox="1"/>
            <p:nvPr/>
          </p:nvSpPr>
          <p:spPr>
            <a:xfrm>
              <a:off x="1554793" y="3985480"/>
              <a:ext cx="78118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订阅推送渠道</a:t>
              </a:r>
            </a:p>
          </p:txBody>
        </p: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269D01FC-02F2-E6FB-A983-38D649FE3249}"/>
                </a:ext>
              </a:extLst>
            </p:cNvPr>
            <p:cNvSpPr txBox="1"/>
            <p:nvPr/>
          </p:nvSpPr>
          <p:spPr>
            <a:xfrm>
              <a:off x="3341435" y="2902736"/>
              <a:ext cx="74892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导入成员需求</a:t>
              </a:r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8A51F6F9-C032-12B1-C5E0-F643FBFC0B6A}"/>
                </a:ext>
              </a:extLst>
            </p:cNvPr>
            <p:cNvSpPr txBox="1"/>
            <p:nvPr/>
          </p:nvSpPr>
          <p:spPr>
            <a:xfrm>
              <a:off x="2489222" y="3509482"/>
              <a:ext cx="77767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课题信息助手</a:t>
              </a:r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A30F4B2F-BA3E-C2D5-6C1A-4B19FB9BD7B3}"/>
                </a:ext>
              </a:extLst>
            </p:cNvPr>
            <p:cNvSpPr txBox="1"/>
            <p:nvPr/>
          </p:nvSpPr>
          <p:spPr>
            <a:xfrm>
              <a:off x="4147979" y="1707272"/>
              <a:ext cx="74807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推送发布课题</a:t>
              </a:r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199B109E-D8CD-B970-8941-AE448A334787}"/>
                </a:ext>
              </a:extLst>
            </p:cNvPr>
            <p:cNvSpPr txBox="1"/>
            <p:nvPr/>
          </p:nvSpPr>
          <p:spPr>
            <a:xfrm>
              <a:off x="4060249" y="2902736"/>
              <a:ext cx="83745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撤回发布课题</a:t>
              </a:r>
            </a:p>
          </p:txBody>
        </p: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1056A2C0-4C50-2141-5EB2-7D38FD07E51B}"/>
                </a:ext>
              </a:extLst>
            </p:cNvPr>
            <p:cNvSpPr txBox="1"/>
            <p:nvPr/>
          </p:nvSpPr>
          <p:spPr>
            <a:xfrm>
              <a:off x="4014511" y="3471322"/>
              <a:ext cx="83555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自动撤回发布课题</a:t>
              </a: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F1DD1581-723D-BE84-46DB-DFF78F53E4B1}"/>
                </a:ext>
              </a:extLst>
            </p:cNvPr>
            <p:cNvSpPr txBox="1"/>
            <p:nvPr/>
          </p:nvSpPr>
          <p:spPr>
            <a:xfrm>
              <a:off x="4960321" y="3573403"/>
              <a:ext cx="905601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基于简历自动生成专业信息</a:t>
              </a:r>
            </a:p>
          </p:txBody>
        </p: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F9A5D87E-E785-C84C-9FB5-5642909BE071}"/>
                </a:ext>
              </a:extLst>
            </p:cNvPr>
            <p:cNvSpPr txBox="1"/>
            <p:nvPr/>
          </p:nvSpPr>
          <p:spPr>
            <a:xfrm>
              <a:off x="6592087" y="1742204"/>
              <a:ext cx="81923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推送成员申请</a:t>
              </a:r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D0F71CDE-42C4-96EC-CAF3-3ABCF1D14663}"/>
                </a:ext>
              </a:extLst>
            </p:cNvPr>
            <p:cNvSpPr txBox="1"/>
            <p:nvPr/>
          </p:nvSpPr>
          <p:spPr>
            <a:xfrm>
              <a:off x="5060446" y="1737931"/>
              <a:ext cx="80547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编辑基本信息</a:t>
              </a:r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98773EB5-89D2-BA66-87A7-1B77CB77FF0A}"/>
                </a:ext>
              </a:extLst>
            </p:cNvPr>
            <p:cNvSpPr txBox="1"/>
            <p:nvPr/>
          </p:nvSpPr>
          <p:spPr>
            <a:xfrm>
              <a:off x="5877761" y="2902736"/>
              <a:ext cx="118176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撤回申请</a:t>
              </a:r>
            </a:p>
          </p:txBody>
        </p: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9545DF99-7416-511C-3285-EDFC43CA5B0F}"/>
                </a:ext>
              </a:extLst>
            </p:cNvPr>
            <p:cNvSpPr txBox="1"/>
            <p:nvPr/>
          </p:nvSpPr>
          <p:spPr>
            <a:xfrm>
              <a:off x="5865922" y="3571689"/>
              <a:ext cx="79512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自动撤回申请</a:t>
              </a:r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267E9A5F-C12E-52EF-9F79-FC5B8DF42971}"/>
                </a:ext>
              </a:extLst>
            </p:cNvPr>
            <p:cNvSpPr txBox="1"/>
            <p:nvPr/>
          </p:nvSpPr>
          <p:spPr>
            <a:xfrm>
              <a:off x="9356453" y="182429"/>
              <a:ext cx="100204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消息与通知中心</a:t>
              </a:r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16390A59-DBA8-4C01-DB50-45BF8E9E261C}"/>
                </a:ext>
              </a:extLst>
            </p:cNvPr>
            <p:cNvSpPr txBox="1"/>
            <p:nvPr/>
          </p:nvSpPr>
          <p:spPr>
            <a:xfrm>
              <a:off x="9356453" y="2902736"/>
              <a:ext cx="78040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我的消息列表</a:t>
              </a:r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79D6E004-4C43-1224-C66A-C122417B32E7}"/>
                </a:ext>
              </a:extLst>
            </p:cNvPr>
            <p:cNvSpPr txBox="1"/>
            <p:nvPr/>
          </p:nvSpPr>
          <p:spPr>
            <a:xfrm>
              <a:off x="10386387" y="2935972"/>
              <a:ext cx="87521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导师看板</a:t>
              </a:r>
            </a:p>
          </p:txBody>
        </p: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7527C294-764A-560E-6EB0-FEC9210BFF9B}"/>
                </a:ext>
              </a:extLst>
            </p:cNvPr>
            <p:cNvSpPr txBox="1"/>
            <p:nvPr/>
          </p:nvSpPr>
          <p:spPr>
            <a:xfrm>
              <a:off x="9356453" y="3736268"/>
              <a:ext cx="118176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消息提醒</a:t>
              </a:r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959812CD-6682-1ED8-76B0-3C85D89E9C8E}"/>
                </a:ext>
              </a:extLst>
            </p:cNvPr>
            <p:cNvSpPr txBox="1"/>
            <p:nvPr/>
          </p:nvSpPr>
          <p:spPr>
            <a:xfrm>
              <a:off x="9356453" y="4045031"/>
              <a:ext cx="78040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合并消息提醒</a:t>
              </a:r>
            </a:p>
          </p:txBody>
        </p: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BA61F55C-A54C-9FD4-7DD2-9A6E8C405039}"/>
                </a:ext>
              </a:extLst>
            </p:cNvPr>
            <p:cNvSpPr txBox="1"/>
            <p:nvPr/>
          </p:nvSpPr>
          <p:spPr>
            <a:xfrm>
              <a:off x="6632998" y="2902736"/>
              <a:ext cx="79512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批量审核</a:t>
              </a:r>
            </a:p>
          </p:txBody>
        </p: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F0572AB0-6E00-D354-1D2C-B895EBFEBE68}"/>
                </a:ext>
              </a:extLst>
            </p:cNvPr>
            <p:cNvSpPr txBox="1"/>
            <p:nvPr/>
          </p:nvSpPr>
          <p:spPr>
            <a:xfrm>
              <a:off x="7531266" y="1718564"/>
              <a:ext cx="75345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协商面试时间</a:t>
              </a:r>
            </a:p>
          </p:txBody>
        </p:sp>
        <p:sp>
          <p:nvSpPr>
            <p:cNvPr id="114" name="矩形: 圆角 113">
              <a:extLst>
                <a:ext uri="{FF2B5EF4-FFF2-40B4-BE49-F238E27FC236}">
                  <a16:creationId xmlns:a16="http://schemas.microsoft.com/office/drawing/2014/main" id="{C42074F7-6C06-56FF-B735-B3B4D553834C}"/>
                </a:ext>
              </a:extLst>
            </p:cNvPr>
            <p:cNvSpPr/>
            <p:nvPr/>
          </p:nvSpPr>
          <p:spPr>
            <a:xfrm>
              <a:off x="9383512" y="887541"/>
              <a:ext cx="686427" cy="734400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消息跟踪管理</a:t>
              </a:r>
            </a:p>
          </p:txBody>
        </p:sp>
        <p:sp>
          <p:nvSpPr>
            <p:cNvPr id="115" name="文本框 114">
              <a:extLst>
                <a:ext uri="{FF2B5EF4-FFF2-40B4-BE49-F238E27FC236}">
                  <a16:creationId xmlns:a16="http://schemas.microsoft.com/office/drawing/2014/main" id="{9A98B9B8-3E4D-CAC0-49B2-AE439D23D8F2}"/>
                </a:ext>
              </a:extLst>
            </p:cNvPr>
            <p:cNvSpPr txBox="1"/>
            <p:nvPr/>
          </p:nvSpPr>
          <p:spPr>
            <a:xfrm>
              <a:off x="10358493" y="206415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数据看板</a:t>
              </a:r>
            </a:p>
          </p:txBody>
        </p:sp>
        <p:sp>
          <p:nvSpPr>
            <p:cNvPr id="116" name="矩形: 圆角 115">
              <a:extLst>
                <a:ext uri="{FF2B5EF4-FFF2-40B4-BE49-F238E27FC236}">
                  <a16:creationId xmlns:a16="http://schemas.microsoft.com/office/drawing/2014/main" id="{2A96F5EE-CC66-FC7F-C3FB-E5E29DBD5EFD}"/>
                </a:ext>
              </a:extLst>
            </p:cNvPr>
            <p:cNvSpPr/>
            <p:nvPr/>
          </p:nvSpPr>
          <p:spPr>
            <a:xfrm>
              <a:off x="10409055" y="887541"/>
              <a:ext cx="686427" cy="734400"/>
            </a:xfrm>
            <a:prstGeom prst="roundRect">
              <a:avLst/>
            </a:prstGeom>
            <a:solidFill>
              <a:srgbClr val="69FDF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数据看板</a:t>
              </a:r>
            </a:p>
          </p:txBody>
        </p: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1EB4A095-8F36-E1AC-A0DB-65C2D1039A84}"/>
                </a:ext>
              </a:extLst>
            </p:cNvPr>
            <p:cNvSpPr txBox="1"/>
            <p:nvPr/>
          </p:nvSpPr>
          <p:spPr>
            <a:xfrm>
              <a:off x="5072285" y="2161024"/>
              <a:ext cx="80547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填写专业信息</a:t>
              </a:r>
            </a:p>
          </p:txBody>
        </p: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F98AF8E6-47EE-A6BB-F86C-BEDBEAA803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8575" y="4602710"/>
              <a:ext cx="10862343" cy="2133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文本框 121">
              <a:extLst>
                <a:ext uri="{FF2B5EF4-FFF2-40B4-BE49-F238E27FC236}">
                  <a16:creationId xmlns:a16="http://schemas.microsoft.com/office/drawing/2014/main" id="{EC4931C6-C06B-0F9E-C4F5-FC9F5BF41C69}"/>
                </a:ext>
              </a:extLst>
            </p:cNvPr>
            <p:cNvSpPr txBox="1"/>
            <p:nvPr/>
          </p:nvSpPr>
          <p:spPr>
            <a:xfrm>
              <a:off x="202000" y="1976836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0.1</a:t>
              </a:r>
              <a:endParaRPr lang="zh-CN" altLang="en-US" dirty="0"/>
            </a:p>
          </p:txBody>
        </p:sp>
        <p:sp>
          <p:nvSpPr>
            <p:cNvPr id="123" name="文本框 122">
              <a:extLst>
                <a:ext uri="{FF2B5EF4-FFF2-40B4-BE49-F238E27FC236}">
                  <a16:creationId xmlns:a16="http://schemas.microsoft.com/office/drawing/2014/main" id="{68AE765A-61A5-3857-8DCC-B9DF7FB61464}"/>
                </a:ext>
              </a:extLst>
            </p:cNvPr>
            <p:cNvSpPr txBox="1"/>
            <p:nvPr/>
          </p:nvSpPr>
          <p:spPr>
            <a:xfrm>
              <a:off x="202404" y="3483892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v0.2</a:t>
              </a:r>
              <a:endParaRPr lang="zh-CN" altLang="en-US" dirty="0"/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3314360B-A379-9E0E-B9B9-B4AFBDD2804D}"/>
                </a:ext>
              </a:extLst>
            </p:cNvPr>
            <p:cNvSpPr txBox="1"/>
            <p:nvPr/>
          </p:nvSpPr>
          <p:spPr>
            <a:xfrm>
              <a:off x="9356453" y="3279776"/>
              <a:ext cx="78040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消息状态跟踪</a:t>
              </a:r>
            </a:p>
          </p:txBody>
        </p:sp>
        <p:sp>
          <p:nvSpPr>
            <p:cNvPr id="126" name="文本框 125">
              <a:extLst>
                <a:ext uri="{FF2B5EF4-FFF2-40B4-BE49-F238E27FC236}">
                  <a16:creationId xmlns:a16="http://schemas.microsoft.com/office/drawing/2014/main" id="{4EA7E513-2939-CAA8-CDDF-7BA977525A23}"/>
                </a:ext>
              </a:extLst>
            </p:cNvPr>
            <p:cNvSpPr txBox="1"/>
            <p:nvPr/>
          </p:nvSpPr>
          <p:spPr>
            <a:xfrm>
              <a:off x="10386387" y="3317767"/>
              <a:ext cx="87521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学生看板</a:t>
              </a:r>
            </a:p>
          </p:txBody>
        </p:sp>
        <p:sp>
          <p:nvSpPr>
            <p:cNvPr id="127" name="文本框 126">
              <a:extLst>
                <a:ext uri="{FF2B5EF4-FFF2-40B4-BE49-F238E27FC236}">
                  <a16:creationId xmlns:a16="http://schemas.microsoft.com/office/drawing/2014/main" id="{A87E6CB4-D658-783E-72F3-70DF55E932AD}"/>
                </a:ext>
              </a:extLst>
            </p:cNvPr>
            <p:cNvSpPr txBox="1"/>
            <p:nvPr/>
          </p:nvSpPr>
          <p:spPr>
            <a:xfrm>
              <a:off x="10358493" y="3739739"/>
              <a:ext cx="87521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课题看板</a:t>
              </a:r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D2224866-B1DA-764C-FB73-4970322597D4}"/>
                </a:ext>
              </a:extLst>
            </p:cNvPr>
            <p:cNvSpPr txBox="1"/>
            <p:nvPr/>
          </p:nvSpPr>
          <p:spPr>
            <a:xfrm>
              <a:off x="3248856" y="3502503"/>
              <a:ext cx="77767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/>
                <a:t>课题成员助手</a:t>
              </a:r>
            </a:p>
          </p:txBody>
        </p:sp>
        <p:sp>
          <p:nvSpPr>
            <p:cNvPr id="3" name="对话气泡: 矩形 2">
              <a:extLst>
                <a:ext uri="{FF2B5EF4-FFF2-40B4-BE49-F238E27FC236}">
                  <a16:creationId xmlns:a16="http://schemas.microsoft.com/office/drawing/2014/main" id="{2D6581FA-D4D1-844C-C93A-B4961A78DDF6}"/>
                </a:ext>
              </a:extLst>
            </p:cNvPr>
            <p:cNvSpPr/>
            <p:nvPr/>
          </p:nvSpPr>
          <p:spPr>
            <a:xfrm>
              <a:off x="4060249" y="4806173"/>
              <a:ext cx="7046772" cy="1108109"/>
            </a:xfrm>
            <a:prstGeom prst="wedgeRectCallout">
              <a:avLst>
                <a:gd name="adj1" fmla="val 35682"/>
                <a:gd name="adj2" fmla="val -73699"/>
              </a:avLst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20000"/>
                </a:lnSpc>
              </a:pPr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、消息与通知中心，数据看板是课程项目必须完成的产品特性；</a:t>
              </a:r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v0.2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版本里规划的其他用户需求作为附加题，根据开发小组情况自行选择其中若干，如果通过质量验收根据实际情况给予加分；</a:t>
              </a:r>
            </a:p>
          </p:txBody>
        </p:sp>
      </p:grpSp>
      <p:sp>
        <p:nvSpPr>
          <p:cNvPr id="5" name="Rectangle 2">
            <a:extLst>
              <a:ext uri="{FF2B5EF4-FFF2-40B4-BE49-F238E27FC236}">
                <a16:creationId xmlns:a16="http://schemas.microsoft.com/office/drawing/2014/main" id="{4D884166-AFD8-3917-C6DA-3000368C8D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43023"/>
            <a:ext cx="10515600" cy="820208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课程项目待开发用户需求</a:t>
            </a:r>
          </a:p>
        </p:txBody>
      </p:sp>
    </p:spTree>
    <p:extLst>
      <p:ext uri="{BB962C8B-B14F-4D97-AF65-F5344CB8AC3E}">
        <p14:creationId xmlns:p14="http://schemas.microsoft.com/office/powerpoint/2010/main" val="1512219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课程项目开发要求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3944" y="1204633"/>
            <a:ext cx="11209468" cy="5288241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/>
              <a:t>过程：采用迭代的过程，覆盖需求、设计、编码到测试各软件开发环节</a:t>
            </a:r>
          </a:p>
          <a:p>
            <a:pPr>
              <a:lnSpc>
                <a:spcPct val="120000"/>
              </a:lnSpc>
            </a:pPr>
            <a:r>
              <a:rPr lang="zh-CN" altLang="en-US" sz="2000" dirty="0"/>
              <a:t>设计：模块化设计，灵活强健，采用合理的架构风格和设计模式，能支持功能需求和非功能需求，应对需求变更</a:t>
            </a:r>
            <a:endParaRPr lang="en-US" altLang="zh-CN" sz="2000" dirty="0"/>
          </a:p>
          <a:p>
            <a:pPr>
              <a:lnSpc>
                <a:spcPct val="120000"/>
              </a:lnSpc>
            </a:pPr>
            <a:r>
              <a:rPr lang="zh-CN" altLang="en-US" sz="2000" dirty="0"/>
              <a:t>编程：核心编程语言采用面向对象语言</a:t>
            </a:r>
            <a:r>
              <a:rPr lang="en-US" altLang="zh-CN" sz="2000" dirty="0"/>
              <a:t>(Java</a:t>
            </a:r>
            <a:r>
              <a:rPr lang="zh-CN" altLang="en-US" sz="2000" dirty="0"/>
              <a:t>、</a:t>
            </a:r>
            <a:r>
              <a:rPr lang="en-US" altLang="zh-CN" sz="2000" dirty="0"/>
              <a:t>C++</a:t>
            </a:r>
            <a:r>
              <a:rPr lang="zh-CN" altLang="en-US" sz="2000" dirty="0"/>
              <a:t>、</a:t>
            </a:r>
            <a:r>
              <a:rPr lang="en-US" altLang="zh-CN" sz="2000" dirty="0"/>
              <a:t>Python</a:t>
            </a:r>
            <a:r>
              <a:rPr lang="zh-CN" altLang="en-US" sz="2000" dirty="0"/>
              <a:t>等</a:t>
            </a:r>
            <a:r>
              <a:rPr lang="en-US" altLang="zh-CN" sz="2000" dirty="0"/>
              <a:t>)</a:t>
            </a:r>
            <a:r>
              <a:rPr lang="zh-CN" altLang="en-US" sz="2000" dirty="0"/>
              <a:t>，符合</a:t>
            </a:r>
            <a:r>
              <a:rPr lang="en-US" altLang="zh-CN" sz="2000" dirty="0"/>
              <a:t>Google</a:t>
            </a:r>
            <a:r>
              <a:rPr lang="zh-CN" altLang="en-US" sz="2000" dirty="0"/>
              <a:t>编程规范</a:t>
            </a:r>
            <a:endParaRPr lang="en-US" altLang="zh-CN" sz="2000" dirty="0"/>
          </a:p>
          <a:p>
            <a:pPr lvl="1">
              <a:lnSpc>
                <a:spcPct val="120000"/>
              </a:lnSpc>
            </a:pPr>
            <a:r>
              <a:rPr lang="zh-CN" altLang="en-US" sz="1800" dirty="0"/>
              <a:t>英文：</a:t>
            </a:r>
            <a:r>
              <a:rPr lang="en-US" altLang="zh-CN" sz="1800" dirty="0">
                <a:hlinkClick r:id="rId3"/>
              </a:rPr>
              <a:t>https://github.com/google/styleguide</a:t>
            </a:r>
            <a:endParaRPr lang="en-US" altLang="zh-CN" sz="1800" dirty="0"/>
          </a:p>
          <a:p>
            <a:pPr lvl="1">
              <a:lnSpc>
                <a:spcPct val="120000"/>
              </a:lnSpc>
            </a:pPr>
            <a:r>
              <a:rPr lang="zh-CN" altLang="en-US" sz="1800" dirty="0"/>
              <a:t>中文：</a:t>
            </a:r>
            <a:r>
              <a:rPr lang="en-US" altLang="zh-CN" sz="1800" dirty="0">
                <a:hlinkClick r:id="rId4"/>
              </a:rPr>
              <a:t>https://github.com/zh-google-styleguide/zh-google-styleguide</a:t>
            </a:r>
            <a:endParaRPr lang="zh-CN" altLang="en-US" sz="1800" dirty="0"/>
          </a:p>
          <a:p>
            <a:pPr>
              <a:lnSpc>
                <a:spcPct val="120000"/>
              </a:lnSpc>
            </a:pPr>
            <a:r>
              <a:rPr lang="zh-CN" altLang="en-US" sz="2000" dirty="0"/>
              <a:t>测试：采用</a:t>
            </a:r>
            <a:r>
              <a:rPr lang="en-US" altLang="zh-CN" sz="2000" dirty="0" err="1"/>
              <a:t>xUnit</a:t>
            </a:r>
            <a:r>
              <a:rPr lang="zh-CN" altLang="en-US" sz="2000" dirty="0"/>
              <a:t>工具进行单元测试，采用接口测试工具进行接口测试，采用人工方式进行系统功能测试，鼓励进行自动化的系统性能测试</a:t>
            </a:r>
            <a:endParaRPr lang="en-US" altLang="zh-CN" sz="2000" dirty="0"/>
          </a:p>
          <a:p>
            <a:pPr>
              <a:lnSpc>
                <a:spcPct val="120000"/>
              </a:lnSpc>
            </a:pPr>
            <a:r>
              <a:rPr lang="zh-CN" altLang="en-US" sz="2000" dirty="0"/>
              <a:t>版本管理：采用</a:t>
            </a:r>
            <a:r>
              <a:rPr lang="en-US" altLang="zh-CN" sz="2000" dirty="0" err="1"/>
              <a:t>Git</a:t>
            </a:r>
            <a:r>
              <a:rPr lang="zh-CN" altLang="en-US" sz="2000" dirty="0"/>
              <a:t>进行文档、模型和代码的版本管理</a:t>
            </a:r>
            <a:endParaRPr lang="en-US" altLang="zh-CN" sz="2000" dirty="0"/>
          </a:p>
          <a:p>
            <a:pPr lvl="1">
              <a:lnSpc>
                <a:spcPct val="120000"/>
              </a:lnSpc>
            </a:pPr>
            <a:r>
              <a:rPr lang="en-US" altLang="zh-CN" sz="1800" dirty="0" err="1"/>
              <a:t>Github</a:t>
            </a:r>
            <a:r>
              <a:rPr lang="en-US" altLang="zh-CN" sz="1800" dirty="0"/>
              <a:t>: </a:t>
            </a:r>
            <a:r>
              <a:rPr lang="en-US" altLang="zh-CN" sz="1800" dirty="0">
                <a:hlinkClick r:id="rId5"/>
              </a:rPr>
              <a:t>https://www.github.com/</a:t>
            </a:r>
            <a:r>
              <a:rPr lang="en-US" altLang="zh-CN" sz="1800" dirty="0"/>
              <a:t> </a:t>
            </a:r>
          </a:p>
          <a:p>
            <a:pPr lvl="1">
              <a:lnSpc>
                <a:spcPct val="120000"/>
              </a:lnSpc>
            </a:pPr>
            <a:r>
              <a:rPr lang="en-US" altLang="zh-CN" sz="1800" dirty="0" err="1"/>
              <a:t>Github</a:t>
            </a:r>
            <a:r>
              <a:rPr lang="en-US" altLang="zh-CN" sz="1800" dirty="0"/>
              <a:t> Guides: </a:t>
            </a:r>
            <a:r>
              <a:rPr lang="en-US" altLang="zh-CN" sz="1800" dirty="0">
                <a:hlinkClick r:id="rId6"/>
              </a:rPr>
              <a:t>https://guides.github.com/</a:t>
            </a:r>
            <a:endParaRPr lang="en-US" altLang="zh-CN" sz="1800" dirty="0"/>
          </a:p>
          <a:p>
            <a:pPr marL="457200" lvl="1" indent="0">
              <a:lnSpc>
                <a:spcPct val="120000"/>
              </a:lnSpc>
              <a:buNone/>
            </a:pPr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078570" y="6413501"/>
            <a:ext cx="103723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rgbClr val="E0CFB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8644C6-89F0-466C-949F-E70AD72679A8}" type="slidenum">
              <a:rPr lang="zh-CN" altLang="en-US" smtClean="0"/>
              <a:pPr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57928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/>
          <p:cNvSpPr>
            <a:spLocks noGrp="1"/>
          </p:cNvSpPr>
          <p:nvPr>
            <p:ph idx="1"/>
          </p:nvPr>
        </p:nvSpPr>
        <p:spPr>
          <a:xfrm>
            <a:off x="838200" y="1347825"/>
            <a:ext cx="11038242" cy="4635500"/>
          </a:xfrm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/>
              <a:t>开发团队规模：</a:t>
            </a:r>
            <a:r>
              <a:rPr lang="en-US" altLang="zh-CN" sz="2000" dirty="0"/>
              <a:t>4</a:t>
            </a:r>
            <a:r>
              <a:rPr lang="zh-CN" altLang="en-US" sz="2000" dirty="0"/>
              <a:t>人</a:t>
            </a:r>
            <a:r>
              <a:rPr lang="en-US" altLang="zh-CN" sz="2000" dirty="0"/>
              <a:t>/</a:t>
            </a:r>
            <a:r>
              <a:rPr lang="zh-CN" altLang="en-GB" sz="2000" dirty="0"/>
              <a:t>组</a:t>
            </a:r>
            <a:endParaRPr lang="zh-CN" altLang="en-US" sz="2000" dirty="0"/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/>
              <a:t>角色（</a:t>
            </a:r>
            <a:r>
              <a:rPr lang="zh-CN" altLang="en-GB" sz="2000" dirty="0"/>
              <a:t>一人可以担当多个角色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en-US" altLang="zh-CN" sz="2000" dirty="0"/>
              <a:t>1</a:t>
            </a:r>
            <a:r>
              <a:rPr lang="zh-CN" altLang="en-US" sz="2000" dirty="0"/>
              <a:t>位</a:t>
            </a:r>
            <a:r>
              <a:rPr lang="zh-CN" altLang="en-GB" sz="2000" dirty="0"/>
              <a:t>项目经理</a:t>
            </a:r>
            <a:endParaRPr lang="en-GB" altLang="zh-CN" sz="2000" dirty="0"/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GB" sz="2000" dirty="0"/>
              <a:t>架构师、</a:t>
            </a:r>
            <a:r>
              <a:rPr lang="zh-CN" altLang="en-US" sz="2000" dirty="0"/>
              <a:t>版本</a:t>
            </a:r>
            <a:r>
              <a:rPr lang="zh-CN" altLang="en-GB" sz="2000" dirty="0"/>
              <a:t>管理各</a:t>
            </a:r>
            <a:r>
              <a:rPr lang="en-US" altLang="zh-CN" sz="2000" dirty="0"/>
              <a:t>1</a:t>
            </a:r>
            <a:r>
              <a:rPr lang="zh-CN" altLang="en-GB" sz="2000" dirty="0"/>
              <a:t>名</a:t>
            </a: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GB" sz="2000" dirty="0"/>
              <a:t>软件开发</a:t>
            </a:r>
            <a:r>
              <a:rPr lang="zh-CN" altLang="en-US" sz="2000" dirty="0"/>
              <a:t>、测试人员</a:t>
            </a:r>
            <a:r>
              <a:rPr lang="zh-CN" altLang="en-GB" sz="2000" dirty="0"/>
              <a:t>多名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/>
              <a:t>项目经理</a:t>
            </a: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/>
              <a:t>管理本小组的日常工作安排、协调、接口协商、设计</a:t>
            </a: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/>
              <a:t>负责评定每个组员最终的成绩系数</a:t>
            </a:r>
            <a:endParaRPr lang="en-US" altLang="zh-CN" sz="2000" dirty="0"/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/>
              <a:t>组员</a:t>
            </a: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/>
              <a:t>配合项目经理的日常工作</a:t>
            </a:r>
            <a:endParaRPr lang="en-US" altLang="zh-CN" sz="2000" dirty="0"/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/>
              <a:t>积极参与项目的各项日常活动， 如参加项目会议、收集资料，分析，书写各类报告等</a:t>
            </a:r>
            <a:endParaRPr lang="en-US" altLang="zh-CN" sz="2000" dirty="0"/>
          </a:p>
          <a:p>
            <a:pPr lvl="1">
              <a:lnSpc>
                <a:spcPct val="130000"/>
              </a:lnSpc>
              <a:spcBef>
                <a:spcPts val="0"/>
              </a:spcBef>
            </a:pPr>
            <a:endParaRPr lang="zh-CN" altLang="en-US" sz="2000" dirty="0"/>
          </a:p>
          <a:p>
            <a:pPr lvl="1">
              <a:lnSpc>
                <a:spcPct val="130000"/>
              </a:lnSpc>
              <a:spcBef>
                <a:spcPts val="0"/>
              </a:spcBef>
            </a:pPr>
            <a:endParaRPr lang="en-US" altLang="zh-CN" sz="2000" dirty="0"/>
          </a:p>
          <a:p>
            <a:pPr>
              <a:lnSpc>
                <a:spcPct val="130000"/>
              </a:lnSpc>
              <a:spcBef>
                <a:spcPts val="0"/>
              </a:spcBef>
            </a:pPr>
            <a:endParaRPr lang="en-US" altLang="zh-CN" sz="2000" dirty="0"/>
          </a:p>
          <a:p>
            <a:pPr lvl="1">
              <a:lnSpc>
                <a:spcPct val="130000"/>
              </a:lnSpc>
              <a:spcBef>
                <a:spcPts val="0"/>
              </a:spcBef>
            </a:pPr>
            <a:endParaRPr lang="zh-CN" altLang="en-GB" sz="2000" dirty="0"/>
          </a:p>
        </p:txBody>
      </p:sp>
      <p:sp>
        <p:nvSpPr>
          <p:cNvPr id="28674" name="Rectangle 2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0208"/>
          </a:xfrm>
          <a:ln/>
        </p:spPr>
        <p:txBody>
          <a:bodyPr vert="horz" wrap="square" lIns="91440" tIns="45720" rIns="91440" bIns="45720" anchor="b" anchorCtr="0">
            <a:normAutofit/>
          </a:bodyPr>
          <a:lstStyle/>
          <a:p>
            <a:r>
              <a:rPr lang="zh-CN" altLang="en-US" dirty="0"/>
              <a:t>课程项目开发要求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BE9BB-E1F6-7818-CB7B-82C11DF12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>
            <a:extLst>
              <a:ext uri="{FF2B5EF4-FFF2-40B4-BE49-F238E27FC236}">
                <a16:creationId xmlns:a16="http://schemas.microsoft.com/office/drawing/2014/main" id="{B5BB2F64-D789-DD7D-05EC-30FF7F6C27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379255"/>
            <a:ext cx="10515600" cy="463603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</a:rPr>
              <a:t>第一次迭代：原型迭代</a:t>
            </a:r>
            <a:endParaRPr lang="en-US" altLang="zh-CN" sz="2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</a:pPr>
            <a:r>
              <a:rPr lang="en-US" altLang="zh-CN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</a:rPr>
              <a:t>25</a:t>
            </a:r>
            <a:r>
              <a:rPr lang="zh-CN" alt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</a:rPr>
              <a:t>年</a:t>
            </a:r>
            <a:r>
              <a:rPr lang="en-US" altLang="zh-CN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</a:rPr>
              <a:t>11</a:t>
            </a:r>
            <a:r>
              <a:rPr lang="zh-CN" alt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</a:rPr>
              <a:t>月</a:t>
            </a:r>
            <a:r>
              <a:rPr lang="en-US" altLang="zh-CN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</a:rPr>
              <a:t>3</a:t>
            </a:r>
            <a:r>
              <a:rPr lang="zh-CN" alt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</a:rPr>
              <a:t>日－</a:t>
            </a:r>
            <a:r>
              <a:rPr lang="en-US" altLang="zh-CN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</a:rPr>
              <a:t>25</a:t>
            </a:r>
            <a:r>
              <a:rPr lang="zh-CN" alt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</a:rPr>
              <a:t>年</a:t>
            </a:r>
            <a:r>
              <a:rPr lang="en-US" altLang="zh-CN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</a:rPr>
              <a:t>12</a:t>
            </a:r>
            <a:r>
              <a:rPr lang="zh-CN" alt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</a:rPr>
              <a:t>月</a:t>
            </a:r>
            <a:r>
              <a:rPr lang="en-US" altLang="zh-CN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</a:rPr>
              <a:t>7</a:t>
            </a:r>
            <a:r>
              <a:rPr lang="zh-CN" alt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</a:rPr>
              <a:t>日（</a:t>
            </a:r>
            <a:r>
              <a:rPr lang="en-US" altLang="zh-CN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</a:rPr>
              <a:t>5</a:t>
            </a:r>
            <a:r>
              <a:rPr lang="zh-CN" alt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</a:rPr>
              <a:t>周）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理解产品业务需求，用户需求，设计系统架构，学习相关技术栈，搭建开发环境，验证想法、设计或技术可行性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</a:rPr>
              <a:t>第二次迭代：消息与看板</a:t>
            </a:r>
            <a:endParaRPr lang="en-US" altLang="zh-CN" sz="2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</a:pPr>
            <a:r>
              <a:rPr lang="en-US" altLang="zh-CN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</a:rPr>
              <a:t>25</a:t>
            </a:r>
            <a:r>
              <a:rPr lang="zh-CN" alt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</a:rPr>
              <a:t>年</a:t>
            </a:r>
            <a:r>
              <a:rPr lang="en-US" altLang="zh-CN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</a:rPr>
              <a:t>12</a:t>
            </a:r>
            <a:r>
              <a:rPr lang="zh-CN" alt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</a:rPr>
              <a:t>月</a:t>
            </a:r>
            <a:r>
              <a:rPr lang="en-US" altLang="zh-CN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</a:rPr>
              <a:t>8</a:t>
            </a:r>
            <a:r>
              <a:rPr lang="zh-CN" alt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</a:rPr>
              <a:t>日－</a:t>
            </a:r>
            <a:r>
              <a:rPr lang="en-US" altLang="zh-CN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</a:rPr>
              <a:t>26</a:t>
            </a:r>
            <a:r>
              <a:rPr lang="zh-CN" alt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</a:rPr>
              <a:t>年</a:t>
            </a:r>
            <a:r>
              <a:rPr lang="en-US" altLang="zh-CN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</a:rPr>
              <a:t>1</a:t>
            </a:r>
            <a:r>
              <a:rPr lang="zh-CN" alt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</a:rPr>
              <a:t>月</a:t>
            </a:r>
            <a:r>
              <a:rPr lang="en-US" altLang="zh-CN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</a:rPr>
              <a:t>4</a:t>
            </a:r>
            <a:r>
              <a:rPr lang="zh-CN" alt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</a:rPr>
              <a:t>日（</a:t>
            </a:r>
            <a:r>
              <a:rPr lang="en-US" altLang="zh-CN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</a:rPr>
              <a:t>4</a:t>
            </a:r>
            <a:r>
              <a:rPr lang="zh-CN" alt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</a:rPr>
              <a:t>周）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完成消息与通知中心、数据看板规划相关用户需求的分析、设计、开发和测试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</a:rPr>
              <a:t>课程项目验收（暂定）</a:t>
            </a:r>
            <a:endParaRPr lang="en-US" altLang="zh-CN" sz="2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</a:pPr>
            <a:r>
              <a:rPr lang="en-US" altLang="zh-CN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</a:rPr>
              <a:t>26</a:t>
            </a:r>
            <a:r>
              <a:rPr lang="zh-CN" alt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</a:rPr>
              <a:t>年</a:t>
            </a:r>
            <a:r>
              <a:rPr lang="en-US" altLang="zh-CN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</a:rPr>
              <a:t>1</a:t>
            </a:r>
            <a:r>
              <a:rPr lang="zh-CN" alt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</a:rPr>
              <a:t>月</a:t>
            </a:r>
            <a:r>
              <a:rPr lang="en-US" altLang="zh-CN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</a:rPr>
              <a:t>5</a:t>
            </a:r>
            <a:r>
              <a:rPr lang="zh-CN" alt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</a:rPr>
              <a:t>日－</a:t>
            </a:r>
            <a:r>
              <a:rPr lang="en-US" altLang="zh-CN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</a:rPr>
              <a:t>26</a:t>
            </a:r>
            <a:r>
              <a:rPr lang="zh-CN" alt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</a:rPr>
              <a:t>年</a:t>
            </a:r>
            <a:r>
              <a:rPr lang="en-US" altLang="zh-CN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</a:rPr>
              <a:t>1</a:t>
            </a:r>
            <a:r>
              <a:rPr lang="zh-CN" alt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</a:rPr>
              <a:t>月</a:t>
            </a:r>
            <a:r>
              <a:rPr lang="en-US" altLang="zh-CN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</a:rPr>
              <a:t>11</a:t>
            </a:r>
            <a:r>
              <a:rPr lang="zh-CN" alt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</a:rPr>
              <a:t>日 </a:t>
            </a:r>
            <a:r>
              <a:rPr lang="en-US" altLang="zh-CN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</a:rPr>
              <a:t>(</a:t>
            </a:r>
            <a:r>
              <a:rPr lang="zh-CN" alt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</a:rPr>
              <a:t>学期第</a:t>
            </a:r>
            <a:r>
              <a:rPr lang="en-US" altLang="zh-CN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</a:rPr>
              <a:t>17</a:t>
            </a:r>
            <a:r>
              <a:rPr lang="zh-CN" alt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</a:rPr>
              <a:t>周</a:t>
            </a:r>
            <a:r>
              <a:rPr lang="en-US" altLang="zh-CN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7179C786-718B-496B-5DD5-5C5E631230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820208"/>
          </a:xfrm>
        </p:spPr>
        <p:txBody>
          <a:bodyPr/>
          <a:lstStyle/>
          <a:p>
            <a:r>
              <a:rPr lang="zh-CN" altLang="en-US" dirty="0"/>
              <a:t>课程项目开发计划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E27317-E582-057C-5436-6802D4EAA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rgbClr val="E0CFB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8644C6-89F0-466C-949F-E70AD72679A8}" type="slidenum">
              <a:rPr lang="zh-CN" altLang="en-US" smtClean="0"/>
              <a:pPr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3853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55703E3-0592-121A-AC79-D60C5D40F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9009"/>
            <a:ext cx="10515600" cy="517101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</a:pPr>
            <a:r>
              <a:rPr lang="zh-CN" alt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主要任务</a:t>
            </a:r>
            <a:endParaRPr lang="en-US" altLang="zh-CN" sz="2400" dirty="0">
              <a:solidFill>
                <a:schemeClr val="tx2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/>
              <a:t>调研、分析和定义需求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altLang="zh-CN" dirty="0"/>
              <a:t>《Vision</a:t>
            </a:r>
            <a:r>
              <a:rPr lang="zh-CN" altLang="en-US" dirty="0"/>
              <a:t>文档</a:t>
            </a:r>
            <a:r>
              <a:rPr lang="en-US" altLang="zh-CN" dirty="0"/>
              <a:t>》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altLang="zh-CN" dirty="0" err="1"/>
              <a:t>Usecase</a:t>
            </a:r>
            <a:r>
              <a:rPr lang="zh-CN" altLang="en-US" dirty="0"/>
              <a:t>模型：</a:t>
            </a:r>
            <a:r>
              <a:rPr lang="en-US" altLang="zh-CN" dirty="0" err="1"/>
              <a:t>Usecase</a:t>
            </a:r>
            <a:r>
              <a:rPr lang="en-US" altLang="zh-CN" dirty="0"/>
              <a:t> </a:t>
            </a:r>
            <a:r>
              <a:rPr lang="zh-CN" altLang="en-US" dirty="0"/>
              <a:t>图和主要</a:t>
            </a:r>
            <a:r>
              <a:rPr lang="en-US" altLang="zh-CN" dirty="0" err="1"/>
              <a:t>usecase</a:t>
            </a:r>
            <a:r>
              <a:rPr lang="zh-CN" altLang="en-US" dirty="0"/>
              <a:t>的用例规约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/>
              <a:t>学习编程语言、工具和框架等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/>
              <a:t>进行界面设计，实现界面原型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/>
              <a:t>小组内部评审和改进需求文档和界面原型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/>
              <a:t>评审记录、开发总结</a:t>
            </a:r>
            <a:endParaRPr lang="en-US" altLang="zh-CN" sz="20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/>
              <a:t>设计系统架构</a:t>
            </a:r>
            <a:endParaRPr lang="en-US" altLang="zh-CN" sz="20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/>
              <a:t>设计关键算法</a:t>
            </a:r>
            <a:endParaRPr lang="en-US" altLang="zh-CN" sz="20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/>
              <a:t>选定或撰写编程规范</a:t>
            </a:r>
            <a:r>
              <a:rPr lang="en-US" altLang="zh-CN" sz="2000" dirty="0"/>
              <a:t>(</a:t>
            </a:r>
            <a:r>
              <a:rPr lang="zh-CN" altLang="en-US" sz="2000" dirty="0"/>
              <a:t>如</a:t>
            </a:r>
            <a:r>
              <a:rPr lang="en-US" altLang="zh-CN" sz="2000" dirty="0"/>
              <a:t>google Java</a:t>
            </a:r>
            <a:r>
              <a:rPr lang="zh-CN" altLang="en-US" sz="2000" dirty="0"/>
              <a:t>编程规范</a:t>
            </a:r>
            <a:r>
              <a:rPr lang="en-US" altLang="zh-CN" sz="2000" dirty="0"/>
              <a:t>)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/>
              <a:t>搭建软件架构</a:t>
            </a:r>
            <a:endParaRPr lang="en-US" altLang="zh-CN" sz="2000" dirty="0"/>
          </a:p>
          <a:p>
            <a:pPr lvl="1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</a:pPr>
            <a:r>
              <a:rPr lang="zh-CN" alt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按编程规范实现典型的</a:t>
            </a:r>
            <a:r>
              <a:rPr lang="en-US" altLang="zh-CN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2-3</a:t>
            </a:r>
            <a:r>
              <a:rPr lang="zh-CN" alt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个用例或者实现前端子系统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/>
              <a:t>测试是否达到需求中预定的技术要求，并根据测试结果进行改进</a:t>
            </a:r>
          </a:p>
          <a:p>
            <a:pPr lvl="1">
              <a:lnSpc>
                <a:spcPct val="120000"/>
              </a:lnSpc>
            </a:pPr>
            <a:endParaRPr lang="zh-CN" altLang="en-US" sz="20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39E084F-873E-32BD-19B2-A147EABCF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第一次迭代</a:t>
            </a:r>
            <a:r>
              <a:rPr lang="en-US" altLang="zh-CN" dirty="0"/>
              <a:t>: </a:t>
            </a:r>
            <a:r>
              <a:rPr lang="zh-CN" altLang="en-US" dirty="0"/>
              <a:t>原型迭代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2CB35E-0425-878B-6478-EFA87A159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C0C45-8306-4019-8B11-4AC3BFD5B435}" type="datetime1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9F8759-BC5C-1FDF-27E7-825E366F5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软件工程实践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275B71-8F82-F618-8426-083A97CBF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B36-6B10-4A46-AD7A-8806ECE7309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907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42284-00D2-67B2-8CC8-D3A0B8949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CF9EF65-B572-C4D9-9AA8-77C980897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030"/>
            <a:ext cx="10515600" cy="517101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</a:pPr>
            <a:r>
              <a:rPr lang="zh-CN" alt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成果输出</a:t>
            </a:r>
            <a:endParaRPr lang="en-US" altLang="zh-CN" sz="2400" dirty="0">
              <a:solidFill>
                <a:schemeClr val="tx2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/>
              <a:t>软件需求规格说明书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/>
              <a:t>界面原型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/>
              <a:t>需求和界面评审报告</a:t>
            </a:r>
            <a:endParaRPr lang="en-US" altLang="zh-CN" sz="20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/>
              <a:t>软件设计说明书</a:t>
            </a:r>
            <a:endParaRPr lang="en-US" altLang="zh-CN" sz="20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/>
              <a:t>原型迭代成果：本次迭代设计编码实现的用户需求</a:t>
            </a:r>
            <a:endParaRPr lang="en-US" altLang="zh-CN" sz="20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迭代评审</a:t>
            </a:r>
            <a:endParaRPr lang="zh-CN" altLang="en-US" sz="2400" dirty="0"/>
          </a:p>
          <a:p>
            <a:pPr lvl="1">
              <a:lnSpc>
                <a:spcPct val="120000"/>
              </a:lnSpc>
            </a:pPr>
            <a:r>
              <a:rPr lang="en-US" altLang="zh-CN" sz="2000" dirty="0"/>
              <a:t>12</a:t>
            </a:r>
            <a:r>
              <a:rPr lang="zh-CN" altLang="en-US" sz="2000" dirty="0"/>
              <a:t>月</a:t>
            </a:r>
            <a:r>
              <a:rPr lang="en-US" altLang="zh-CN" sz="2000" dirty="0"/>
              <a:t>8</a:t>
            </a:r>
            <a:r>
              <a:rPr lang="zh-CN" altLang="en-US" sz="2000" dirty="0"/>
              <a:t>日，演示原型迭代成果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091A127-8ED7-8F63-FC4A-BA8C2090E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第一次迭代</a:t>
            </a:r>
            <a:r>
              <a:rPr lang="en-US" altLang="zh-CN" dirty="0"/>
              <a:t>: </a:t>
            </a:r>
            <a:r>
              <a:rPr lang="zh-CN" altLang="en-US" dirty="0"/>
              <a:t>原型迭代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267CDA-8F81-635A-74EB-D2F474603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C0C45-8306-4019-8B11-4AC3BFD5B435}" type="datetime1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7A78BA-19E4-BC97-96C9-CF7D0FCBA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软件工程实践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C3FC9F-AB03-DEF5-24F9-F7A4E5ADC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B36-6B10-4A46-AD7A-8806ECE7309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7901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81402"/>
            <a:ext cx="10515600" cy="4636030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</a:pPr>
            <a:r>
              <a:rPr lang="zh-CN" alt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界面原型</a:t>
            </a:r>
            <a:endParaRPr lang="en-US" altLang="zh-CN" sz="2400" dirty="0">
              <a:solidFill>
                <a:schemeClr val="tx2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000" dirty="0"/>
              <a:t>界面原型为静态的</a:t>
            </a:r>
            <a:endParaRPr lang="en-US" altLang="zh-CN" sz="2000" dirty="0"/>
          </a:p>
          <a:p>
            <a:pPr lvl="1">
              <a:lnSpc>
                <a:spcPct val="120000"/>
              </a:lnSpc>
            </a:pPr>
            <a:r>
              <a:rPr lang="zh-CN" altLang="en-US" sz="2000" dirty="0"/>
              <a:t>包括主要界面和界面上的主要元素</a:t>
            </a:r>
            <a:endParaRPr lang="en-US" altLang="zh-CN" sz="2000" dirty="0"/>
          </a:p>
          <a:p>
            <a:pPr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</a:pPr>
            <a:r>
              <a:rPr lang="zh-CN" alt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开发的几种方法</a:t>
            </a:r>
          </a:p>
          <a:p>
            <a:pPr lvl="1">
              <a:lnSpc>
                <a:spcPct val="120000"/>
              </a:lnSpc>
            </a:pPr>
            <a:r>
              <a:rPr lang="zh-CN" altLang="zh-CN" sz="2000" dirty="0"/>
              <a:t>图纸（在纸上</a:t>
            </a:r>
            <a:r>
              <a:rPr lang="zh-CN" altLang="en-US" sz="2000" dirty="0"/>
              <a:t>手绘</a:t>
            </a:r>
            <a:r>
              <a:rPr lang="zh-CN" altLang="zh-CN" sz="2000" dirty="0"/>
              <a:t>）</a:t>
            </a:r>
            <a:endParaRPr lang="en-US" altLang="zh-CN" sz="2000" dirty="0"/>
          </a:p>
          <a:p>
            <a:pPr lvl="1">
              <a:lnSpc>
                <a:spcPct val="120000"/>
              </a:lnSpc>
            </a:pPr>
            <a:r>
              <a:rPr lang="zh-CN" altLang="zh-CN" sz="2000" dirty="0"/>
              <a:t>位图（采用绘图工具</a:t>
            </a:r>
            <a:r>
              <a:rPr lang="zh-CN" altLang="en-US" sz="2000" dirty="0"/>
              <a:t>，如</a:t>
            </a:r>
            <a:r>
              <a:rPr lang="en-US" altLang="zh-CN" sz="2000" dirty="0"/>
              <a:t>Visio</a:t>
            </a:r>
            <a:r>
              <a:rPr lang="zh-CN" altLang="zh-CN" sz="2000" dirty="0"/>
              <a:t>）</a:t>
            </a:r>
            <a:endParaRPr lang="en-US" altLang="zh-CN" sz="2000" dirty="0"/>
          </a:p>
          <a:p>
            <a:pPr lvl="1">
              <a:lnSpc>
                <a:spcPct val="120000"/>
              </a:lnSpc>
            </a:pPr>
            <a:r>
              <a:rPr lang="zh-CN" altLang="zh-CN" sz="2000" dirty="0"/>
              <a:t>可执行代码</a:t>
            </a:r>
            <a:r>
              <a:rPr lang="zh-CN" altLang="en-US" sz="2000" dirty="0"/>
              <a:t>，即</a:t>
            </a:r>
            <a:r>
              <a:rPr lang="zh-CN" altLang="zh-CN" sz="2000" dirty="0"/>
              <a:t>交互式的电子</a:t>
            </a:r>
            <a:r>
              <a:rPr lang="zh-CN" altLang="en-US" sz="2000" dirty="0"/>
              <a:t>界面</a:t>
            </a:r>
            <a:r>
              <a:rPr lang="zh-CN" altLang="zh-CN" sz="2000" dirty="0"/>
              <a:t>原型</a:t>
            </a:r>
            <a:endParaRPr lang="en-US" altLang="zh-CN" sz="2000" dirty="0"/>
          </a:p>
          <a:p>
            <a:pPr lvl="2">
              <a:lnSpc>
                <a:spcPct val="120000"/>
              </a:lnSpc>
            </a:pPr>
            <a:r>
              <a:rPr lang="zh-CN" altLang="en-US" dirty="0"/>
              <a:t>采用界面原型工具，如</a:t>
            </a:r>
            <a:r>
              <a:rPr lang="en-US" altLang="zh-CN" dirty="0"/>
              <a:t>Axure</a:t>
            </a:r>
            <a:r>
              <a:rPr lang="zh-CN" altLang="en-US" dirty="0"/>
              <a:t>（</a:t>
            </a:r>
            <a:r>
              <a:rPr lang="en-US" altLang="zh-CN" dirty="0"/>
              <a:t>https://www.axure.com</a:t>
            </a:r>
            <a:r>
              <a:rPr lang="zh-CN" altLang="en-US" dirty="0"/>
              <a:t>）、</a:t>
            </a:r>
            <a:r>
              <a:rPr lang="en-US" altLang="zh-CN" dirty="0"/>
              <a:t>Sketch</a:t>
            </a:r>
            <a:r>
              <a:rPr lang="zh-CN" altLang="en-US" dirty="0"/>
              <a:t>、</a:t>
            </a:r>
            <a:r>
              <a:rPr lang="en-US" altLang="zh-CN" dirty="0"/>
              <a:t>Zeplin</a:t>
            </a:r>
          </a:p>
          <a:p>
            <a:pPr lvl="2">
              <a:lnSpc>
                <a:spcPct val="120000"/>
              </a:lnSpc>
            </a:pPr>
            <a:r>
              <a:rPr lang="zh-CN" altLang="en-US" dirty="0"/>
              <a:t>或直接编程，如采用</a:t>
            </a:r>
            <a:r>
              <a:rPr lang="en-US" altLang="zh-CN" dirty="0"/>
              <a:t>HTML</a:t>
            </a:r>
            <a:r>
              <a:rPr lang="zh-CN" altLang="en-US" dirty="0"/>
              <a:t>或编程语言</a:t>
            </a:r>
          </a:p>
          <a:p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0208"/>
          </a:xfrm>
        </p:spPr>
        <p:txBody>
          <a:bodyPr/>
          <a:lstStyle/>
          <a:p>
            <a:r>
              <a:rPr lang="zh-CN" altLang="en-US" dirty="0"/>
              <a:t>关于界面原型开发说明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11155363" y="6413500"/>
            <a:ext cx="1036637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rgbClr val="E0CFB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8644C6-89F0-466C-949F-E70AD72679A8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9295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93CA3-38EA-57EE-867E-EBD361C1B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0F44B5F-F0B2-6D66-4AA2-5570FECB90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5334"/>
            <a:ext cx="10515600" cy="517101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</a:pPr>
            <a:r>
              <a:rPr lang="zh-CN" alt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主要任务</a:t>
            </a:r>
            <a:endParaRPr lang="en-US" altLang="zh-CN" sz="2400" dirty="0">
              <a:solidFill>
                <a:schemeClr val="tx2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/>
              <a:t>设计实现消息与看板在原型迭代中未实现的用户需求</a:t>
            </a:r>
            <a:endParaRPr lang="en-US" altLang="zh-CN" sz="2000" dirty="0"/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zh-CN" altLang="en-US" sz="1800" dirty="0"/>
              <a:t>进行用例分析、设计和实现，递交代码；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/>
              <a:t>单元测试</a:t>
            </a:r>
            <a:endParaRPr lang="en-US" altLang="zh-CN" sz="2000" dirty="0"/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zh-CN" altLang="en-US" sz="1800" dirty="0"/>
              <a:t>使用</a:t>
            </a:r>
            <a:r>
              <a:rPr lang="en-US" altLang="zh-CN" sz="1800" dirty="0" err="1"/>
              <a:t>xUnit</a:t>
            </a:r>
            <a:r>
              <a:rPr lang="zh-CN" altLang="en-US" sz="1800" dirty="0"/>
              <a:t>工具对前端或后端子系统进行测试，语句覆盖率超过</a:t>
            </a:r>
            <a:r>
              <a:rPr lang="en-US" altLang="zh-CN" sz="1800" dirty="0"/>
              <a:t>90%</a:t>
            </a:r>
            <a:r>
              <a:rPr lang="zh-CN" altLang="en-US" sz="1800" dirty="0"/>
              <a:t>，生成测试报告；</a:t>
            </a:r>
            <a:endParaRPr lang="en-US" altLang="zh-CN" sz="18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/>
              <a:t>接口测试</a:t>
            </a:r>
            <a:endParaRPr lang="en-US" altLang="zh-CN" sz="2000" dirty="0"/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zh-CN" altLang="en-US" sz="1800" dirty="0"/>
              <a:t>使用接口测试工具进行接口测试，生成接口测试报告；</a:t>
            </a:r>
            <a:endParaRPr lang="en-US" altLang="zh-CN" sz="18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/>
              <a:t>系统测试</a:t>
            </a:r>
            <a:endParaRPr lang="en-US" altLang="zh-CN" sz="2000" dirty="0"/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zh-CN" altLang="en-US" sz="1800" dirty="0"/>
              <a:t>系统测试计划，设计系统测试用例，设计系统测试用例，执行测试，编写</a:t>
            </a:r>
            <a:r>
              <a:rPr lang="en-US" altLang="zh-CN" sz="1800" dirty="0"/>
              <a:t>《</a:t>
            </a:r>
            <a:r>
              <a:rPr lang="zh-CN" altLang="en-US" sz="1800" dirty="0"/>
              <a:t>系统测试报告</a:t>
            </a:r>
            <a:r>
              <a:rPr lang="en-US" altLang="zh-CN" sz="1800" dirty="0"/>
              <a:t>》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/>
              <a:t>修改测试中发现的缺陷</a:t>
            </a:r>
            <a:endParaRPr lang="en-US" altLang="zh-CN" sz="20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/>
              <a:t>结项准备</a:t>
            </a:r>
            <a:endParaRPr lang="zh-CN" altLang="en-US" sz="1600" dirty="0"/>
          </a:p>
          <a:p>
            <a:pPr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</a:pPr>
            <a:r>
              <a:rPr lang="zh-CN" alt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注：可能对原型迭代的工作或工件进行返工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altLang="zh-CN" sz="24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endParaRPr lang="zh-CN" altLang="en-US" sz="20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85AB140-2A92-15B0-DA30-52C4FEA5D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第二次迭代</a:t>
            </a:r>
            <a:r>
              <a:rPr lang="en-US" altLang="zh-CN" dirty="0"/>
              <a:t>: </a:t>
            </a:r>
            <a:r>
              <a:rPr lang="zh-CN" altLang="en-US" dirty="0"/>
              <a:t>消息与看板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8E9484-5E89-DA65-A2C1-F5BEE1F9A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C0C45-8306-4019-8B11-4AC3BFD5B435}" type="datetime1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FA3218-B506-21C3-E8C7-04A766C5B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软件工程实践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BEA226-5CBE-1167-F5EB-EDBB6FEF0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B36-6B10-4A46-AD7A-8806ECE7309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6637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96A3E-ABC1-1D37-A808-5FF6F7907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EB2E227-7692-82D0-611E-D68E5F6F4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078" y="1185334"/>
            <a:ext cx="11353800" cy="517101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成果输出</a:t>
            </a:r>
            <a:endParaRPr lang="en-US" altLang="zh-CN" sz="2000" dirty="0"/>
          </a:p>
          <a:p>
            <a:pPr lvl="1">
              <a:lnSpc>
                <a:spcPct val="120000"/>
              </a:lnSpc>
            </a:pPr>
            <a:r>
              <a:rPr lang="zh-CN" altLang="en-US" sz="2000" dirty="0"/>
              <a:t>软件需求规格说明书</a:t>
            </a:r>
            <a:endParaRPr lang="en-US" altLang="zh-CN" sz="2000" dirty="0"/>
          </a:p>
          <a:p>
            <a:pPr lvl="1">
              <a:lnSpc>
                <a:spcPct val="120000"/>
              </a:lnSpc>
            </a:pPr>
            <a:r>
              <a:rPr lang="zh-CN" altLang="en-US" sz="2000" dirty="0"/>
              <a:t>软件设计说明书</a:t>
            </a:r>
            <a:endParaRPr lang="en-US" altLang="zh-CN" sz="2000" dirty="0"/>
          </a:p>
          <a:p>
            <a:pPr lvl="1">
              <a:lnSpc>
                <a:spcPct val="120000"/>
              </a:lnSpc>
            </a:pPr>
            <a:r>
              <a:rPr lang="zh-CN" altLang="en-US" sz="2000" dirty="0"/>
              <a:t>软件代码（源代码和可执行代码）</a:t>
            </a:r>
          </a:p>
          <a:p>
            <a:pPr lvl="1">
              <a:lnSpc>
                <a:spcPct val="120000"/>
              </a:lnSpc>
            </a:pPr>
            <a:r>
              <a:rPr lang="zh-CN" altLang="en-US" sz="2000" dirty="0"/>
              <a:t>单元测试的代码及其生成测试报告</a:t>
            </a:r>
            <a:endParaRPr lang="en-US" altLang="zh-CN" sz="2000" dirty="0"/>
          </a:p>
          <a:p>
            <a:pPr lvl="1">
              <a:lnSpc>
                <a:spcPct val="120000"/>
              </a:lnSpc>
            </a:pPr>
            <a:r>
              <a:rPr lang="zh-CN" altLang="en-US" sz="2000" dirty="0"/>
              <a:t>接口测试代码及报告</a:t>
            </a:r>
          </a:p>
          <a:p>
            <a:pPr lvl="1">
              <a:lnSpc>
                <a:spcPct val="120000"/>
              </a:lnSpc>
            </a:pPr>
            <a:r>
              <a:rPr lang="zh-CN" altLang="en-US" sz="2000" dirty="0"/>
              <a:t>系统测试测试计划、测试用例和测试报告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zh-CN" sz="2400" dirty="0"/>
          </a:p>
          <a:p>
            <a:pPr lvl="1">
              <a:lnSpc>
                <a:spcPct val="120000"/>
              </a:lnSpc>
            </a:pPr>
            <a:endParaRPr lang="zh-CN" altLang="en-US" sz="20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48FE0C0-D739-D6A9-0DEB-25CC90060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第二次迭代</a:t>
            </a:r>
            <a:r>
              <a:rPr lang="en-US" altLang="zh-CN" dirty="0"/>
              <a:t>: </a:t>
            </a:r>
            <a:r>
              <a:rPr lang="zh-CN" altLang="en-US" dirty="0"/>
              <a:t>消息与看板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80EABF-51C4-DE8F-B490-8C49CB6DD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C0C45-8306-4019-8B11-4AC3BFD5B435}" type="datetime1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97BADC-9A5E-4425-3300-40DFBD983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软件工程实践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446DC6-8CD9-ABAA-307F-CACFF7634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B36-6B10-4A46-AD7A-8806ECE7309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599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9E150C8-41C5-7236-AC30-CA3717B62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2767"/>
            <a:ext cx="10844605" cy="480731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主要任务</a:t>
            </a:r>
            <a:endParaRPr lang="en-US" altLang="zh-CN" sz="2400" dirty="0">
              <a:solidFill>
                <a:schemeClr val="tx2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000" dirty="0"/>
              <a:t>验收准备</a:t>
            </a:r>
            <a:endParaRPr lang="en-US" altLang="zh-CN" sz="2000" dirty="0"/>
          </a:p>
          <a:p>
            <a:pPr lvl="1">
              <a:lnSpc>
                <a:spcPct val="120000"/>
              </a:lnSpc>
            </a:pPr>
            <a:r>
              <a:rPr lang="zh-CN" altLang="en-US" sz="2000" dirty="0"/>
              <a:t>验收展示</a:t>
            </a:r>
            <a:endParaRPr lang="en-US" altLang="zh-CN" sz="2000" dirty="0"/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000" dirty="0"/>
              <a:t>每组</a:t>
            </a:r>
            <a:r>
              <a:rPr lang="en-US" altLang="zh-CN" sz="2000" dirty="0"/>
              <a:t>15</a:t>
            </a:r>
            <a:r>
              <a:rPr lang="zh-CN" altLang="en-US" sz="2000" dirty="0"/>
              <a:t>分钟：</a:t>
            </a:r>
            <a:r>
              <a:rPr lang="en-US" altLang="zh-CN" sz="2000" dirty="0"/>
              <a:t>PPT</a:t>
            </a:r>
            <a:r>
              <a:rPr lang="zh-CN" altLang="en-US" sz="2000" dirty="0"/>
              <a:t>演讲与系统演示</a:t>
            </a:r>
            <a:r>
              <a:rPr lang="en-US" altLang="zh-CN" sz="2000" dirty="0"/>
              <a:t>10</a:t>
            </a:r>
            <a:r>
              <a:rPr lang="zh-CN" altLang="en-US" sz="2000" dirty="0"/>
              <a:t>分钟，提问</a:t>
            </a:r>
            <a:r>
              <a:rPr lang="en-US" altLang="zh-CN" sz="2000" dirty="0"/>
              <a:t>5</a:t>
            </a:r>
            <a:r>
              <a:rPr lang="zh-CN" altLang="en-US" sz="2000" dirty="0"/>
              <a:t>分钟</a:t>
            </a:r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</a:pPr>
            <a:r>
              <a:rPr lang="en-US" altLang="zh-CN" sz="2000" dirty="0"/>
              <a:t>PPT</a:t>
            </a:r>
            <a:r>
              <a:rPr lang="zh-CN" altLang="en-US" sz="2000" dirty="0"/>
              <a:t>汇报：</a:t>
            </a:r>
            <a:endParaRPr lang="en-US" altLang="zh-CN" sz="2000" dirty="0"/>
          </a:p>
          <a:p>
            <a:pPr lvl="2">
              <a:lnSpc>
                <a:spcPct val="120000"/>
              </a:lnSpc>
            </a:pPr>
            <a:r>
              <a:rPr lang="zh-CN" altLang="en-US" dirty="0"/>
              <a:t>产品特色与创新点、架构与关键技术、特色与创新点、经验教训、成员贡献或分工等</a:t>
            </a:r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000" dirty="0"/>
              <a:t>系统演示：</a:t>
            </a:r>
            <a:endParaRPr lang="en-US" altLang="zh-CN" sz="2000" dirty="0"/>
          </a:p>
          <a:p>
            <a:pPr lvl="2">
              <a:lnSpc>
                <a:spcPct val="120000"/>
              </a:lnSpc>
            </a:pPr>
            <a:r>
              <a:rPr lang="zh-CN" altLang="en-US" dirty="0"/>
              <a:t>直接演示系统（推荐），也可以用预录视频播放方式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sz="2000" dirty="0"/>
              <a:t>资产提交</a:t>
            </a:r>
            <a:endParaRPr lang="en-US" altLang="zh-CN" sz="2000" dirty="0"/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000" dirty="0"/>
              <a:t>第二次迭代成果</a:t>
            </a:r>
            <a:endParaRPr lang="en-US" altLang="zh-CN" sz="2000" dirty="0"/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000" dirty="0"/>
              <a:t>验收</a:t>
            </a:r>
            <a:r>
              <a:rPr lang="en-US" altLang="zh-CN" sz="2000" dirty="0"/>
              <a:t>Demo</a:t>
            </a:r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000" dirty="0"/>
              <a:t>验收演示</a:t>
            </a:r>
            <a:r>
              <a:rPr lang="en-US" altLang="zh-CN" sz="2000" dirty="0"/>
              <a:t>PPT</a:t>
            </a:r>
          </a:p>
          <a:p>
            <a:pPr lvl="1">
              <a:lnSpc>
                <a:spcPct val="120000"/>
              </a:lnSpc>
            </a:pPr>
            <a:endParaRPr lang="zh-CN" altLang="en-US" sz="20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828CCF2-4CE8-279C-C5C9-2F8C19688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课程项目验收（暂定）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10F100-97B3-6DC3-304F-370E1E4BA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C0C45-8306-4019-8B11-4AC3BFD5B435}" type="datetime1">
              <a:rPr lang="zh-CN" altLang="en-US" smtClean="0"/>
              <a:t>2025/11/2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0060C7-278A-1A11-FB4C-A0EAAC19C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软件工程实践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E36B73-24E7-6398-8FA8-2A2C6C657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B36-6B10-4A46-AD7A-8806ECE7309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6035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38600" y="2879914"/>
            <a:ext cx="5139477" cy="7200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6000" b="1" dirty="0">
                <a:solidFill>
                  <a:srgbClr val="0070C0"/>
                </a:solidFill>
              </a:rPr>
              <a:t>The    End</a:t>
            </a:r>
            <a:endParaRPr lang="zh-CN" altLang="en-US" sz="6000" b="1" dirty="0">
              <a:solidFill>
                <a:srgbClr val="0070C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28041A-244D-4CB6-AF01-DB98B7B3F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85FB588-C848-4CA4-87DC-642BAD24C3D5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2E8BB81-D08C-0808-5426-AB285FDA9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7C525-447E-4984-BBA7-4D85277E7C73}" type="datetime1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106AA0-7084-EC61-B590-E721ABE99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软件工程实践</a:t>
            </a:r>
          </a:p>
        </p:txBody>
      </p:sp>
    </p:spTree>
    <p:extLst>
      <p:ext uri="{BB962C8B-B14F-4D97-AF65-F5344CB8AC3E}">
        <p14:creationId xmlns:p14="http://schemas.microsoft.com/office/powerpoint/2010/main" val="3602594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4239">
        <p:fade/>
      </p:transition>
    </mc:Choice>
    <mc:Fallback xmlns="">
      <p:transition spd="med" advTm="4239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vecto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15912</TotalTime>
  <Words>1558</Words>
  <Application>Microsoft Office PowerPoint</Application>
  <PresentationFormat>宽屏</PresentationFormat>
  <Paragraphs>286</Paragraphs>
  <Slides>15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等线</vt:lpstr>
      <vt:lpstr>黑体</vt:lpstr>
      <vt:lpstr>微软雅黑</vt:lpstr>
      <vt:lpstr>微软雅黑 Light</vt:lpstr>
      <vt:lpstr>Arial</vt:lpstr>
      <vt:lpstr>Calibri</vt:lpstr>
      <vt:lpstr>Cambria Math</vt:lpstr>
      <vt:lpstr>Office 主题​​</vt:lpstr>
      <vt:lpstr>软件工程实践 课程项目说明</vt:lpstr>
      <vt:lpstr>课程大纲</vt:lpstr>
      <vt:lpstr>LabLink用户需求总览</vt:lpstr>
      <vt:lpstr>进一步说明</vt:lpstr>
      <vt:lpstr>课程项目待开发用户需求</vt:lpstr>
      <vt:lpstr>课程项目开发要求</vt:lpstr>
      <vt:lpstr>课程项目开发要求</vt:lpstr>
      <vt:lpstr>课程项目开发计划</vt:lpstr>
      <vt:lpstr>第一次迭代: 原型迭代</vt:lpstr>
      <vt:lpstr>第一次迭代: 原型迭代</vt:lpstr>
      <vt:lpstr>关于界面原型开发说明</vt:lpstr>
      <vt:lpstr>第二次迭代: 消息与看板</vt:lpstr>
      <vt:lpstr>第二次迭代: 消息与看板</vt:lpstr>
      <vt:lpstr>课程项目验收（暂定）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海英 孙</dc:creator>
  <cp:lastModifiedBy>海英 孙</cp:lastModifiedBy>
  <cp:revision>566</cp:revision>
  <dcterms:created xsi:type="dcterms:W3CDTF">2025-09-08T08:15:06Z</dcterms:created>
  <dcterms:modified xsi:type="dcterms:W3CDTF">2025-11-02T10:17:44Z</dcterms:modified>
</cp:coreProperties>
</file>